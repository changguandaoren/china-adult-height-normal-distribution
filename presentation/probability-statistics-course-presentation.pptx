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 firstSlideNum="1">
  <p:sldMasterIdLst>
    <p:sldMasterId id="2147483648" r:id="rId0"/>
  </p:sldMasterIdLst>
  <p:notesMasterIdLst>
    <p:notesMasterId r:id="rId2"/>
  </p:notesMasterIdLst>
  <p:sldIdLst>
    <p:sldId id="256" r:id="rId1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notesMaster" Target="notesMasters/notesMaster1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viewProps" Target="viewProps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r="http://schemas.openxmlformats.org/officeDocument/2006/relationships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svg"/><Relationship Id="rId3" Type="http://schemas.openxmlformats.org/officeDocument/2006/relationships/image" Target="../media/image2.svg"/><Relationship Id="rId4" Type="http://schemas.openxmlformats.org/officeDocument/2006/relationships/image" Target="../media/image3.svg"/><Relationship Id="rId5" Type="http://schemas.openxmlformats.org/officeDocument/2006/relationships/image" Target="../media/image4.svg"/><Relationship Id="rId6" Type="http://schemas.openxmlformats.org/officeDocument/2006/relationships/image" Target="../media/image5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sv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sv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 width: '1280px', height: '720px', background: '#FFFFFF', fontFamily: 'Microsoft YaHei', display: 'flex', flexDirection: 'column', alignItems: 'center', justifyContent: 'center' }}&gt;&#10;  &lt;Text style={{ fontSize: '46px', fontWeight: 'bold', color: '#0E3F8C' }}&gt;正态分布在现实数据分析中的应用&lt;/Text&gt;&#10;  &lt;Text style={{ fontSize: '26px', color: '#1E4FA8', marginTop: '14px' }}&gt;——基于中国成年人身高数据的案例分析&lt;/Text&gt;&#10;  &lt;Box style={{ width: '140px', height: '4px', background: '#1E4FA8', margin: '30px 0' }} /&gt;&#10;  &lt;Text style={{ fontSize: '22px', color: '#4A5568' }}&gt;《概率论与数理统计》课程论文报告&lt;/Text&gt;&#10;  &lt;Box style={{ marginTop: '54px', display: 'flex', flexDirection: 'column', gap: '12px', alignItems: 'center' }}&gt;&#10;    &lt;Text style={{ fontSize: '20px', color: '#1A2230' }}&gt;作者：____________　　学号：____________&lt;/Text&gt;&#10;    &lt;Text style={{ fontSize: '20px', color: '#1A2230' }}&gt;日期：____________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 descr="{&quot;isTemplate&quot;:true,&quot;type&quot;:&quot;text&quot;}"/>
          <p:cNvSpPr txBox="1"/>
          <p:nvPr/>
        </p:nvSpPr>
        <p:spPr>
          <a:xfrm rot="0" flipH="0" flipV="0">
            <a:off x="2809875" y="1971675"/>
            <a:ext cx="657225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0E3F8C"/>
                </a:solidFill>
                <a:latin typeface="Microsoft YaHei"/>
                <a:ea typeface="Microsoft YaHei"/>
              </a:rPr>
              <a:t>正态分布在现实数据分析中的应用</a:t>
            </a:r>
            <a:endParaRPr/>
          </a:p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3848100" y="2638425"/>
            <a:ext cx="45053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1E4FA8"/>
                </a:solidFill>
                <a:latin typeface="Microsoft YaHei"/>
                <a:ea typeface="Microsoft YaHei"/>
              </a:rPr>
              <a:t>——基于中国成年人身高数据的案例分析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5429250" y="3228975"/>
            <a:ext cx="1333500" cy="381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4419600" y="3552825"/>
            <a:ext cx="33528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《概率论与数理统计》课程论文报告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4305300" y="4324350"/>
            <a:ext cx="3581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作者：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____________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　学号：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____________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5295900" y="4667250"/>
            <a:ext cx="16002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日期：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____________</a:t>
            </a:r>
            <a:endParaRPr/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381000" y="171450"/>
            <a:ext cx="40195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为什么研究</a:t>
            </a:r>
            <a:r>
              <a:rPr lang="en-US" sz="225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身高与正态分布</a:t>
            </a:r>
            <a:r>
              <a:rPr lang="en-US" sz="225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？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0" y="685800"/>
            <a:ext cx="12192000" cy="2857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429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身高是最常见的连续型人体测量变量之一。在合理划分研究总体后，它的分布往往呈现近似钟形——这正是正态分布登场的现实土壤。</a:t>
            </a:r>
            <a:endParaRPr/>
          </a:p>
        </p:txBody>
      </p:sp>
      <p:sp>
        <p:nvSpPr>
          <p:cNvPr id="7" name=""/>
          <p:cNvSpPr/>
          <p:nvPr/>
        </p:nvSpPr>
        <p:spPr>
          <a:xfrm rot="0" flipH="0" flipV="0">
            <a:off x="381000" y="1409700"/>
            <a:ext cx="381000" cy="3810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514350" y="148590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914400" y="1409700"/>
            <a:ext cx="10896600" cy="3619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身高是典型连续型变量，可测量、可比较、可重复；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381000" y="1943100"/>
            <a:ext cx="381000" cy="3810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514350" y="201930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914400" y="1943100"/>
            <a:ext cx="10896600" cy="3619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控制年龄、性别后，身高分布常呈近似钟形，适合用正态模型描述；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381000" y="2476500"/>
            <a:ext cx="381000" cy="3810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514350" y="255270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914400" y="2476500"/>
            <a:ext cx="10896600" cy="3619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正态分布仅需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 μ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、σ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两个参数即可刻画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中心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与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离散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，并支撑标准化、区间覆盖与相对位置判断。</a:t>
            </a:r>
            <a:endParaRPr/>
          </a:p>
        </p:txBody>
      </p:sp>
      <p:sp>
        <p:nvSpPr>
          <p:cNvPr id="16" name=""/>
          <p:cNvSpPr/>
          <p:nvPr/>
        </p:nvSpPr>
        <p:spPr>
          <a:xfrm rot="0" flipH="0" flipV="0">
            <a:off x="438150" y="3048000"/>
            <a:ext cx="11430000" cy="56197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381000" y="3048000"/>
            <a:ext cx="11487150" cy="561975"/>
          </a:xfrm>
          <a:custGeom>
            <a:pathLst>
              <a:path w="1206" h="59">
                <a:moveTo>
                  <a:pt x="0" y="0"/>
                </a:moveTo>
                <a:lnTo>
                  <a:pt x="6" y="0"/>
                </a:lnTo>
                <a:lnTo>
                  <a:pt x="6" y="59"/>
                </a:lnTo>
                <a:lnTo>
                  <a:pt x="0" y="59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628650" y="3200400"/>
            <a:ext cx="10991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Microsoft YaHei"/>
                <a:ea typeface="Microsoft YaHei"/>
              </a:rPr>
              <a:t>核心问题：现实中的身高数据，究竟在多大程度上可以用正态分布近似描述？</a:t>
            </a:r>
            <a:r>
              <a:rPr lang="zh-CN" sz="1650" b="1">
                <a:solidFill>
                  <a:srgbClr val="0E3F8C"/>
                </a:solidFill>
                <a:latin typeface="Microsoft YaHei"/>
                <a:ea typeface="Microsoft YaHei"/>
              </a:rPr>
              <a:t>　</a:t>
            </a: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>[2][3][10]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381000" y="6286500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概率论与数理统计课程论文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11353800" y="62865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02 / 11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381000" y="17145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正态分布的基本理论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0" y="685800"/>
            <a:ext cx="12192000" cy="2857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3638550" y="876300"/>
            <a:ext cx="49149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μ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描述中心位置，σ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描述波动程度，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Z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描述个体相对位置。</a:t>
            </a:r>
            <a:endParaRPr/>
          </a:p>
        </p:txBody>
      </p:sp>
      <p:pic xmlns:asvg="http://schemas.microsoft.com/office/drawing/2016/SVG/main">
        <p:nvPicPr>
          <p:cNvPr id="7" name="" descr="X \sim N(\mu, \sigma^2)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4857750" y="1238250"/>
            <a:ext cx="2476500" cy="457200"/>
          </a:xfrm>
          <a:prstGeom prst="rect"/>
          <a:ln/>
        </p:spPr>
      </p:pic>
      <p:pic xmlns:asvg="http://schemas.microsoft.com/office/drawing/2016/SVG/main">
        <p:nvPicPr>
          <p:cNvPr id="8" name="" descr="f(x)=\frac{1}{\sigma\sqrt{2\pi}}\exp\left(-\frac{(x-\mu)^2}{2\sigma^2}\right)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2667000" y="1828800"/>
            <a:ext cx="4572000" cy="704850"/>
          </a:xfrm>
          <a:prstGeom prst="rect"/>
          <a:ln/>
        </p:spPr>
      </p:pic>
      <p:pic xmlns:asvg="http://schemas.microsoft.com/office/drawing/2016/SVG/main">
        <p:nvPicPr>
          <p:cNvPr id="9" name="" descr="Z=\frac{X-\mu}{\sigma}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715250" y="1885950"/>
            <a:ext cx="1809750" cy="590550"/>
          </a:xfrm>
          <a:prstGeom prst="rect"/>
          <a:ln/>
        </p:spPr>
      </p:pic>
      <p:pic xmlns:asvg="http://schemas.microsoft.com/office/drawing/2016/SVG/main">
        <p:nvPicPr>
          <p:cNvPr id="10" name="" descr="E(X)=\mu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4191000" y="2686050"/>
            <a:ext cx="1428750" cy="333375"/>
          </a:xfrm>
          <a:prstGeom prst="rect"/>
          <a:ln/>
        </p:spPr>
      </p:pic>
      <p:pic xmlns:asvg="http://schemas.microsoft.com/office/drawing/2016/SVG/main">
        <p:nvPicPr>
          <p:cNvPr id="11" name="" descr="\mathrm{Var}(X)=\sigma^2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096000" y="2667000"/>
            <a:ext cx="1905000" cy="371475"/>
          </a:xfrm>
          <a:prstGeom prst="rect"/>
          <a:ln/>
        </p:spPr>
      </p:pic>
      <p:sp>
        <p:nvSpPr>
          <p:cNvPr id="12" name=""/>
          <p:cNvSpPr/>
          <p:nvPr/>
        </p:nvSpPr>
        <p:spPr>
          <a:xfrm rot="0" flipH="0" flipV="0">
            <a:off x="438150" y="3228975"/>
            <a:ext cx="11430000" cy="80010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3" name=""/>
          <p:cNvSpPr/>
          <p:nvPr/>
        </p:nvSpPr>
        <p:spPr>
          <a:xfrm rot="0" flipH="0" flipV="0">
            <a:off x="381000" y="3228975"/>
            <a:ext cx="11487150" cy="800100"/>
          </a:xfrm>
          <a:custGeom>
            <a:pathLst>
              <a:path w="1206" h="84">
                <a:moveTo>
                  <a:pt x="0" y="0"/>
                </a:moveTo>
                <a:lnTo>
                  <a:pt x="6" y="0"/>
                </a:lnTo>
                <a:lnTo>
                  <a:pt x="6" y="84"/>
                </a:lnTo>
                <a:lnTo>
                  <a:pt x="0" y="84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628650" y="3362325"/>
            <a:ext cx="109918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>3σ </a:t>
            </a: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原则（正态总体的经典区间覆盖）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3733800" y="3667125"/>
            <a:ext cx="1343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±1σ → 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68.27%</a:t>
            </a:r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5457825" y="3667125"/>
            <a:ext cx="1343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±2σ → 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95.45%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7181850" y="3667125"/>
            <a:ext cx="1343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±3σ → 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99.73%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381000" y="6286500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概率论与数理统计课程论文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1353800" y="62865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03 / 11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381000" y="17145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数据来源与研究总体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0" y="685800"/>
            <a:ext cx="12192000" cy="2857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6096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Microsoft YaHei"/>
                <a:ea typeface="Microsoft YaHei"/>
              </a:rPr>
              <a:t>数据从哪里来？研究对象是谁？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381000" y="1304925"/>
            <a:ext cx="857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  <a:ea typeface="Microsoft YaHei"/>
              </a:rPr>
              <a:t>•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581025" y="1304925"/>
            <a:ext cx="43434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数据来源：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2011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年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 CHNS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（中国健康与营养调查）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381000" y="1762125"/>
            <a:ext cx="857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  <a:ea typeface="Microsoft YaHei"/>
              </a:rPr>
              <a:t>•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581025" y="1762125"/>
            <a:ext cx="367665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正式研究总体：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2011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年、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20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～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24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岁成年人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381000" y="2219325"/>
            <a:ext cx="857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  <a:ea typeface="Microsoft YaHei"/>
              </a:rPr>
              <a:t>•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581025" y="2219325"/>
            <a:ext cx="2667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分析方式：男性、女性分别进行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381000" y="2676525"/>
            <a:ext cx="857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  <a:ea typeface="Microsoft YaHei"/>
              </a:rPr>
              <a:t>•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581025" y="2676525"/>
            <a:ext cx="36576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正式样本：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473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人（男性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 220 /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女性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 253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15" name=""/>
          <p:cNvSpPr/>
          <p:nvPr/>
        </p:nvSpPr>
        <p:spPr>
          <a:xfrm rot="0" flipH="0" flipV="0">
            <a:off x="438150" y="3209925"/>
            <a:ext cx="6096000" cy="581025"/>
          </a:xfrm>
          <a:prstGeom prst="rect">
            <a:avLst/>
          </a:prstGeom>
          <a:solidFill>
            <a:srgbClr val="FFF5F5"/>
          </a:solidFill>
          <a:ln/>
        </p:spPr>
        <p:txBody>
          <a:bodyPr/>
          <a:p/>
        </p:txBody>
      </p:sp>
      <p:sp>
        <p:nvSpPr>
          <p:cNvPr id="16" name=""/>
          <p:cNvSpPr/>
          <p:nvPr/>
        </p:nvSpPr>
        <p:spPr>
          <a:xfrm rot="0" flipH="0" flipV="0">
            <a:off x="381000" y="3209925"/>
            <a:ext cx="6153150" cy="581025"/>
          </a:xfrm>
          <a:custGeom>
            <a:pathLst>
              <a:path w="646" h="61">
                <a:moveTo>
                  <a:pt x="0" y="0"/>
                </a:moveTo>
                <a:lnTo>
                  <a:pt x="6" y="0"/>
                </a:lnTo>
                <a:lnTo>
                  <a:pt x="6" y="61"/>
                </a:lnTo>
                <a:lnTo>
                  <a:pt x="0" y="61"/>
                </a:ln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609600" y="3343275"/>
            <a:ext cx="569595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CHNS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为抽样样本，结论不能直接表述为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中国所有成年人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的总体规律。</a:t>
            </a:r>
            <a:endParaRPr/>
          </a:p>
        </p:txBody>
      </p:sp>
      <p:sp>
        <p:nvSpPr>
          <p:cNvPr id="18" name=""/>
          <p:cNvSpPr/>
          <p:nvPr/>
        </p:nvSpPr>
        <p:spPr>
          <a:xfrm rot="0" flipH="0" flipV="0">
            <a:off x="7762875" y="1600200"/>
            <a:ext cx="3048000" cy="457200"/>
          </a:xfrm>
          <a:prstGeom prst="roundRect">
            <a:avLst>
              <a:gd name="adj" fmla="val 166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9010650" y="1714500"/>
            <a:ext cx="5619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CHNS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9239250" y="2114550"/>
            <a:ext cx="1047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650">
                <a:solidFill>
                  <a:srgbClr val="8B97A8"/>
                </a:solidFill>
                <a:latin typeface="Microsoft YaHei"/>
                <a:ea typeface="Microsoft YaHei"/>
              </a:rPr>
              <a:t>↓</a:t>
            </a:r>
            <a:endParaRPr/>
          </a:p>
        </p:txBody>
      </p:sp>
      <p:sp>
        <p:nvSpPr>
          <p:cNvPr id="21" name=""/>
          <p:cNvSpPr/>
          <p:nvPr/>
        </p:nvSpPr>
        <p:spPr>
          <a:xfrm rot="0" flipH="0" flipV="0">
            <a:off x="7762875" y="2428875"/>
            <a:ext cx="3048000" cy="457200"/>
          </a:xfrm>
          <a:prstGeom prst="roundRect">
            <a:avLst>
              <a:gd name="adj" fmla="val 166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8924925" y="2543175"/>
            <a:ext cx="7239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2011 </a:t>
            </a: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年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9239250" y="2943225"/>
            <a:ext cx="1047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650">
                <a:solidFill>
                  <a:srgbClr val="8B97A8"/>
                </a:solidFill>
                <a:latin typeface="Microsoft YaHei"/>
                <a:ea typeface="Microsoft YaHei"/>
              </a:rPr>
              <a:t>↓</a:t>
            </a:r>
            <a:endParaRPr/>
          </a:p>
        </p:txBody>
      </p:sp>
      <p:sp>
        <p:nvSpPr>
          <p:cNvPr id="24" name=""/>
          <p:cNvSpPr/>
          <p:nvPr/>
        </p:nvSpPr>
        <p:spPr>
          <a:xfrm rot="0" flipH="0" flipV="0">
            <a:off x="7762875" y="3257550"/>
            <a:ext cx="3048000" cy="457200"/>
          </a:xfrm>
          <a:prstGeom prst="roundRect">
            <a:avLst>
              <a:gd name="adj" fmla="val 166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8829675" y="3371850"/>
            <a:ext cx="914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20</a:t>
            </a: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～</a:t>
            </a: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24 </a:t>
            </a: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岁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9239250" y="3771900"/>
            <a:ext cx="1047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650">
                <a:solidFill>
                  <a:srgbClr val="8B97A8"/>
                </a:solidFill>
                <a:latin typeface="Microsoft YaHei"/>
                <a:ea typeface="Microsoft YaHei"/>
              </a:rPr>
              <a:t>↓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7762875" y="4086225"/>
            <a:ext cx="3048000" cy="457200"/>
          </a:xfrm>
          <a:prstGeom prst="roundRect">
            <a:avLst>
              <a:gd name="adj" fmla="val 166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810625" y="4200525"/>
            <a:ext cx="952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按性别分组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9239250" y="4600575"/>
            <a:ext cx="1047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650">
                <a:solidFill>
                  <a:srgbClr val="8B97A8"/>
                </a:solidFill>
                <a:latin typeface="Microsoft YaHei"/>
                <a:ea typeface="Microsoft YaHei"/>
              </a:rPr>
              <a:t>↓</a:t>
            </a:r>
            <a:endParaRPr/>
          </a:p>
        </p:txBody>
      </p:sp>
      <p:sp>
        <p:nvSpPr>
          <p:cNvPr id="30" name=""/>
          <p:cNvSpPr/>
          <p:nvPr/>
        </p:nvSpPr>
        <p:spPr>
          <a:xfrm rot="0" flipH="0" flipV="0">
            <a:off x="7762875" y="4914900"/>
            <a:ext cx="3048000" cy="457200"/>
          </a:xfrm>
          <a:prstGeom prst="roundRect">
            <a:avLst>
              <a:gd name="adj" fmla="val 166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8610600" y="5029200"/>
            <a:ext cx="1362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>473 </a:t>
            </a: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个有效样本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381000" y="6286500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概率论与数理统计课程论文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1353800" y="62865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04 / 11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381000" y="17145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数据清洗与样本形成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0" y="685800"/>
            <a:ext cx="12192000" cy="2857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" name=""/>
          <p:cNvSpPr/>
          <p:nvPr/>
        </p:nvSpPr>
        <p:spPr>
          <a:xfrm rot="0" flipH="0" flipV="0">
            <a:off x="381000" y="952500"/>
            <a:ext cx="2381250" cy="1047750"/>
          </a:xfrm>
          <a:prstGeom prst="roundRect">
            <a:avLst>
              <a:gd name="adj" fmla="val 909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1219200" y="1123950"/>
            <a:ext cx="71437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1E4FA8"/>
                </a:solidFill>
                <a:latin typeface="Microsoft YaHei"/>
                <a:ea typeface="Microsoft YaHei"/>
              </a:rPr>
              <a:t>518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143000" y="161925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条原始记录</a:t>
            </a:r>
            <a:endParaRPr/>
          </a:p>
        </p:txBody>
      </p:sp>
      <p:sp>
        <p:nvSpPr>
          <p:cNvPr id="9" name=""/>
          <p:cNvSpPr/>
          <p:nvPr/>
        </p:nvSpPr>
        <p:spPr>
          <a:xfrm rot="0" flipH="0" flipV="0">
            <a:off x="3400425" y="952500"/>
            <a:ext cx="2381250" cy="1047750"/>
          </a:xfrm>
          <a:prstGeom prst="roundRect">
            <a:avLst>
              <a:gd name="adj" fmla="val 909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4276725" y="1123950"/>
            <a:ext cx="63817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1E4FA8"/>
                </a:solidFill>
                <a:latin typeface="Microsoft YaHei"/>
                <a:ea typeface="Microsoft YaHei"/>
              </a:rPr>
              <a:t>-45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4162425" y="161925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条身高缺失</a:t>
            </a:r>
            <a:endParaRPr/>
          </a:p>
        </p:txBody>
      </p:sp>
      <p:sp>
        <p:nvSpPr>
          <p:cNvPr id="12" name=""/>
          <p:cNvSpPr/>
          <p:nvPr/>
        </p:nvSpPr>
        <p:spPr>
          <a:xfrm rot="0" flipH="0" flipV="0">
            <a:off x="6410325" y="952500"/>
            <a:ext cx="2381250" cy="1047750"/>
          </a:xfrm>
          <a:prstGeom prst="roundRect">
            <a:avLst>
              <a:gd name="adj" fmla="val 909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7248525" y="1123950"/>
            <a:ext cx="71437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1E4FA8"/>
                </a:solidFill>
                <a:latin typeface="Microsoft YaHei"/>
                <a:ea typeface="Microsoft YaHei"/>
              </a:rPr>
              <a:t>473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7172325" y="161925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条有效记录</a:t>
            </a:r>
            <a:endParaRPr/>
          </a:p>
        </p:txBody>
      </p:sp>
      <p:sp>
        <p:nvSpPr>
          <p:cNvPr id="15" name=""/>
          <p:cNvSpPr/>
          <p:nvPr/>
        </p:nvSpPr>
        <p:spPr>
          <a:xfrm rot="0" flipH="0" flipV="0">
            <a:off x="9429750" y="952500"/>
            <a:ext cx="2381250" cy="1047750"/>
          </a:xfrm>
          <a:prstGeom prst="roundRect">
            <a:avLst>
              <a:gd name="adj" fmla="val 909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9715500" y="1123950"/>
            <a:ext cx="181927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1E4FA8"/>
                </a:solidFill>
                <a:latin typeface="Microsoft YaHei"/>
                <a:ea typeface="Microsoft YaHei"/>
              </a:rPr>
              <a:t>220 / 253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10191750" y="1619250"/>
            <a:ext cx="866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男性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 /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女性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3943350" y="2209800"/>
            <a:ext cx="5048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>
                <a:solidFill>
                  <a:srgbClr val="8B97A8"/>
                </a:solidFill>
                <a:latin typeface="Microsoft YaHei"/>
                <a:ea typeface="Microsoft YaHei"/>
              </a:rPr>
              <a:t>518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4638675" y="2228850"/>
            <a:ext cx="2476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9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5076825" y="2209800"/>
            <a:ext cx="5048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>
                <a:solidFill>
                  <a:srgbClr val="8B97A8"/>
                </a:solidFill>
                <a:latin typeface="Microsoft YaHei"/>
                <a:ea typeface="Microsoft YaHei"/>
              </a:rPr>
              <a:t>473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5772150" y="2228850"/>
            <a:ext cx="2476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9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6210300" y="2209800"/>
            <a:ext cx="20383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>
                <a:solidFill>
                  <a:srgbClr val="8B97A8"/>
                </a:solidFill>
                <a:latin typeface="Microsoft YaHei"/>
                <a:ea typeface="Microsoft YaHei"/>
              </a:rPr>
              <a:t>男</a:t>
            </a:r>
            <a:r>
              <a:rPr lang="en-US" sz="2250">
                <a:solidFill>
                  <a:srgbClr val="8B97A8"/>
                </a:solidFill>
                <a:latin typeface="Microsoft YaHei"/>
                <a:ea typeface="Microsoft YaHei"/>
              </a:rPr>
              <a:t> 220 / </a:t>
            </a:r>
            <a:r>
              <a:rPr lang="zh-CN" sz="2250">
                <a:solidFill>
                  <a:srgbClr val="8B97A8"/>
                </a:solidFill>
                <a:latin typeface="Microsoft YaHei"/>
                <a:ea typeface="Microsoft YaHei"/>
              </a:rPr>
              <a:t>女</a:t>
            </a:r>
            <a:r>
              <a:rPr lang="en-US" sz="2250">
                <a:solidFill>
                  <a:srgbClr val="8B97A8"/>
                </a:solidFill>
                <a:latin typeface="Microsoft YaHei"/>
                <a:ea typeface="Microsoft YaHei"/>
              </a:rPr>
              <a:t> 253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438150" y="2819400"/>
            <a:ext cx="11430000" cy="13525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381000" y="2819400"/>
            <a:ext cx="11487150" cy="1352550"/>
          </a:xfrm>
          <a:custGeom>
            <a:pathLst>
              <a:path w="1206" h="142">
                <a:moveTo>
                  <a:pt x="0" y="0"/>
                </a:moveTo>
                <a:lnTo>
                  <a:pt x="6" y="0"/>
                </a:lnTo>
                <a:lnTo>
                  <a:pt x="6" y="142"/>
                </a:lnTo>
                <a:lnTo>
                  <a:pt x="0" y="14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28650" y="2971800"/>
            <a:ext cx="1099185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身高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 &lt; 100 cm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：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条；身高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 &gt; 220 cm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：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条。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28650" y="3381375"/>
            <a:ext cx="1099185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没有任何记录因极端值被删除；女性最低值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 134.9 cm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按原始观测保留。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628650" y="3790950"/>
            <a:ext cx="109918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最终样本如何得到，且未为迎合正态而人为删数据。</a:t>
            </a:r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381000" y="6286500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概率论与数理统计课程论文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11353800" y="62865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05 / 11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381000" y="171450"/>
            <a:ext cx="43338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描述统计——男女身高的基本特征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0" y="685800"/>
            <a:ext cx="12192000" cy="2857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6096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表</a:t>
            </a: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> 5-1</a:t>
            </a: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　</a:t>
            </a: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>2011 </a:t>
            </a: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年</a:t>
            </a: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> CHNS 20</a:t>
            </a: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～</a:t>
            </a: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>24 </a:t>
            </a: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岁成年人身高描述统计量</a:t>
            </a:r>
            <a:endParaRPr/>
          </a:p>
        </p:txBody>
      </p:sp>
      <p:graphicFrame xmlns:a16="http://schemas.microsoft.com/office/drawing/2014/main">
        <p:nvGraphicFramePr>
          <p:cNvPr id="7" name=""/>
          <p:cNvGraphicFramePr/>
          <p:nvPr/>
        </p:nvGraphicFramePr>
        <p:xfrm rot="0" flipH="0" flipV="0">
          <a:off x="381000" y="1238250"/>
          <a:ext cx="6096000" cy="3619500"/>
        </p:xfrm>
        <a:graphic>
          <a:graphicData uri="http://schemas.openxmlformats.org/drawingml/2006/table">
            <a:tbl>
              <a:tblGrid>
                <a:gridCol w="2528592">
                  <a:extLst>
                    <a:ext uri="{9D8B030D-6E8A-4147-A177-3AD203B41FA5}">
                      <a16:colId val="1"/>
                    </a:ext>
                  </a:extLst>
                </a:gridCol>
                <a:gridCol w="1783704">
                  <a:extLst>
                    <a:ext uri="{9D8B030D-6E8A-4147-A177-3AD203B41FA5}">
                      <a16:colId val="2"/>
                    </a:ext>
                  </a:extLst>
                </a:gridCol>
                <a:gridCol w="1783704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5170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指标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男性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女性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5170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3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样本量 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3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220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3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253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5170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3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均值（cm）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3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171.5614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3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159.5917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5170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3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中位数（cm）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3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172.0000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3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160.0000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5170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3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标准差（cm）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3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6.8218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3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6.0802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5170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3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偏度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3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0.0107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3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-0.3614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5170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3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超额峰度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3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-0.0150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3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0.5907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8" name=""/>
          <p:cNvSpPr/>
          <p:nvPr/>
        </p:nvSpPr>
        <p:spPr>
          <a:xfrm rot="0" flipH="0" flipV="0">
            <a:off x="6743700" y="2019300"/>
            <a:ext cx="5048250" cy="1009650"/>
          </a:xfrm>
          <a:prstGeom prst="roundRect">
            <a:avLst>
              <a:gd name="adj" fmla="val 9434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6896100" y="2190750"/>
            <a:ext cx="4743450" cy="2286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男性　均值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 ±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标准差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896100" y="2419350"/>
            <a:ext cx="4743450" cy="4381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2850" b="1">
                <a:solidFill>
                  <a:srgbClr val="1E4FA8"/>
                </a:solidFill>
                <a:latin typeface="Microsoft YaHei"/>
                <a:ea typeface="Microsoft YaHei"/>
              </a:rPr>
              <a:t>171.56 ± 6.82 cm</a:t>
            </a:r>
            <a:endParaRPr/>
          </a:p>
        </p:txBody>
      </p:sp>
      <p:sp>
        <p:nvSpPr>
          <p:cNvPr id="11" name=""/>
          <p:cNvSpPr/>
          <p:nvPr/>
        </p:nvSpPr>
        <p:spPr>
          <a:xfrm rot="0" flipH="0" flipV="0">
            <a:off x="6743700" y="3181350"/>
            <a:ext cx="5048250" cy="1009650"/>
          </a:xfrm>
          <a:prstGeom prst="roundRect">
            <a:avLst>
              <a:gd name="adj" fmla="val 9434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6896100" y="3352800"/>
            <a:ext cx="4743450" cy="2286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女性　均值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 ±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标准差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6896100" y="3581400"/>
            <a:ext cx="4743450" cy="4381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2850" b="1">
                <a:solidFill>
                  <a:srgbClr val="1E4FA8"/>
                </a:solidFill>
                <a:latin typeface="Microsoft YaHei"/>
                <a:ea typeface="Microsoft YaHei"/>
              </a:rPr>
              <a:t>159.59 ± 6.08 cm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6743700" y="4343400"/>
            <a:ext cx="504825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男性样本中心位置更高；女性样本标准差略小。两组分布形态总体接近钟形，但并非完全理想正态。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381000" y="6286500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概率论与数理统计课程论文</a:t>
            </a:r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11353800" y="62865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06 / 11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381000" y="171450"/>
            <a:ext cx="40481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直方图——实际分布长什么样？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0" y="685800"/>
            <a:ext cx="12192000" cy="2857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pic xmlns:asvg="http://schemas.microsoft.com/office/drawing/2016/SVG/main">
        <p:nvPicPr>
          <p:cNvPr id="6" name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0" flipH="0" flipV="0">
            <a:off x="798387" y="876300"/>
            <a:ext cx="4746876" cy="31432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1800225" y="4057650"/>
            <a:ext cx="27336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图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5-1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　男性身高直方图及理论正态曲线</a:t>
            </a:r>
            <a:endParaRPr/>
          </a:p>
        </p:txBody>
      </p:sp>
      <p:pic xmlns:asvg="http://schemas.microsoft.com/office/drawing/2016/SVG/main">
        <p:nvPicPr>
          <p:cNvPr id="8" name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0" flipH="0" flipV="0">
            <a:off x="6656262" y="876300"/>
            <a:ext cx="4746876" cy="3143250"/>
          </a:xfrm>
          <a:prstGeom prst="rect">
            <a:avLst/>
          </a:prstGeom>
          <a:ln/>
        </p:spPr>
      </p:pic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58100" y="4057650"/>
            <a:ext cx="27336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图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5-2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　女性身高直方图及理论正态曲线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438150" y="4400550"/>
            <a:ext cx="11430000" cy="11620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381000" y="4400550"/>
            <a:ext cx="11487150" cy="1162050"/>
          </a:xfrm>
          <a:custGeom>
            <a:pathLst>
              <a:path w="1206" h="122">
                <a:moveTo>
                  <a:pt x="0" y="0"/>
                </a:moveTo>
                <a:lnTo>
                  <a:pt x="6" y="0"/>
                </a:lnTo>
                <a:lnTo>
                  <a:pt x="6" y="122"/>
                </a:lnTo>
                <a:lnTo>
                  <a:pt x="0" y="12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628650" y="4514850"/>
            <a:ext cx="10991850" cy="3048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整体呈单峰、近似钟形；男性样本与正态形态较为接近；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628650" y="4876800"/>
            <a:ext cx="10991850" cy="3048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女性样本存在轻度偏离，但整体形态仍具较明显的正态特征。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628650" y="5238750"/>
            <a:ext cx="10991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8B97A8"/>
                </a:solidFill>
                <a:latin typeface="Microsoft YaHei"/>
                <a:ea typeface="Microsoft YaHei"/>
              </a:rPr>
              <a:t>（注意</a:t>
            </a:r>
            <a:r>
              <a:rPr lang="en-US" sz="1350">
                <a:solidFill>
                  <a:srgbClr val="8B97A8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8B97A8"/>
                </a:solidFill>
                <a:latin typeface="Microsoft YaHei"/>
                <a:ea typeface="Microsoft YaHei"/>
              </a:rPr>
              <a:t>近似</a:t>
            </a:r>
            <a:r>
              <a:rPr lang="en-US" sz="1350">
                <a:solidFill>
                  <a:srgbClr val="8B97A8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8B97A8"/>
                </a:solidFill>
                <a:latin typeface="Microsoft YaHei"/>
                <a:ea typeface="Microsoft YaHei"/>
              </a:rPr>
              <a:t>措辞：不表述为</a:t>
            </a:r>
            <a:r>
              <a:rPr lang="en-US" sz="1350">
                <a:solidFill>
                  <a:srgbClr val="8B97A8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8B97A8"/>
                </a:solidFill>
                <a:latin typeface="Microsoft YaHei"/>
                <a:ea typeface="Microsoft YaHei"/>
              </a:rPr>
              <a:t>完全服从正态分布</a:t>
            </a:r>
            <a:r>
              <a:rPr lang="en-US" sz="1350">
                <a:solidFill>
                  <a:srgbClr val="8B97A8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8B97A8"/>
                </a:solidFill>
                <a:latin typeface="Microsoft YaHei"/>
                <a:ea typeface="Microsoft YaHei"/>
              </a:rPr>
              <a:t>。）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381000" y="6286500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概率论与数理统计课程论文</a:t>
            </a:r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11353800" y="62865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07 / 11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381000" y="171450"/>
            <a:ext cx="38862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FFFF"/>
                </a:solidFill>
                <a:latin typeface="Microsoft YaHei"/>
                <a:ea typeface="Microsoft YaHei"/>
              </a:rPr>
              <a:t>Q-Q </a:t>
            </a: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图</a:t>
            </a:r>
            <a:r>
              <a:rPr lang="en-US" sz="2250" b="1">
                <a:solidFill>
                  <a:srgbClr val="FFFFFF"/>
                </a:solidFill>
                <a:latin typeface="Microsoft YaHei"/>
                <a:ea typeface="Microsoft YaHei"/>
              </a:rPr>
              <a:t> + Shapiro-Wilk </a:t>
            </a: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检验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0" y="685800"/>
            <a:ext cx="12192000" cy="2857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pic xmlns:asvg="http://schemas.microsoft.com/office/drawing/2016/SVG/main">
        <p:nvPicPr>
          <p:cNvPr id="6" name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0" flipH="0" flipV="0">
            <a:off x="1885950" y="876300"/>
            <a:ext cx="2571750" cy="2571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2286000" y="3486150"/>
            <a:ext cx="1762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图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5-3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　男性身高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Q-Q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图</a:t>
            </a:r>
            <a:endParaRPr/>
          </a:p>
        </p:txBody>
      </p:sp>
      <p:pic xmlns:asvg="http://schemas.microsoft.com/office/drawing/2016/SVG/main">
        <p:nvPicPr>
          <p:cNvPr id="8" name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0" flipH="0" flipV="0">
            <a:off x="7743825" y="876300"/>
            <a:ext cx="2571750" cy="2571750"/>
          </a:xfrm>
          <a:prstGeom prst="rect">
            <a:avLst/>
          </a:prstGeom>
          <a:ln/>
        </p:spPr>
      </p:pic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8143875" y="3486150"/>
            <a:ext cx="1762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图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5-4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　女性身高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Q-Q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图</a:t>
            </a:r>
            <a:endParaRPr/>
          </a:p>
        </p:txBody>
      </p:sp>
      <p:graphicFrame xmlns:a16="http://schemas.microsoft.com/office/drawing/2014/main">
        <p:nvGraphicFramePr>
          <p:cNvPr id="10" name=""/>
          <p:cNvGraphicFramePr/>
          <p:nvPr/>
        </p:nvGraphicFramePr>
        <p:xfrm rot="0" flipH="0" flipV="0">
          <a:off x="381000" y="3810000"/>
          <a:ext cx="5143500" cy="1428750"/>
        </p:xfrm>
        <a:graphic>
          <a:graphicData uri="http://schemas.openxmlformats.org/drawingml/2006/table">
            <a:tbl>
              <a:tblGrid>
                <a:gridCol w="963614">
                  <a:extLst>
                    <a:ext uri="{9D8B030D-6E8A-4147-A177-3AD203B41FA5}">
                      <a16:colId val="1"/>
                    </a:ext>
                  </a:extLst>
                </a:gridCol>
                <a:gridCol w="879086">
                  <a:extLst>
                    <a:ext uri="{9D8B030D-6E8A-4147-A177-3AD203B41FA5}">
                      <a16:colId val="2"/>
                    </a:ext>
                  </a:extLst>
                </a:gridCol>
                <a:gridCol w="1872285">
                  <a:extLst>
                    <a:ext uri="{9D8B030D-6E8A-4147-A177-3AD203B41FA5}">
                      <a16:colId val="3"/>
                    </a:ext>
                  </a:extLst>
                </a:gridCol>
                <a:gridCol w="1428515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4762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性别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4762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3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男性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3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220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3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0.992062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3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0.2799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4762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3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女性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3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253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3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0.987611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3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0.0281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</a:tbl>
          </a:graphicData>
        </a:graphic>
      </p:graphicFrame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5772150" y="3810000"/>
            <a:ext cx="55245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男性：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p=0.2799 &gt; 0.05 →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在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 5%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水平下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不能拒绝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正态性原假设。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5772150" y="4171950"/>
            <a:ext cx="55245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女性：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p=0.0281 &lt; 0.05 →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在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 5%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水平下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拒绝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正态性原假设，存在统计可检测偏离。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5772150" y="4829175"/>
            <a:ext cx="55245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强调：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P &gt; 0.05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不等于证明正态；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P &lt; 0.05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也不等于正态模型完全不能使用。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381000" y="6286500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概率论与数理统计课程论文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11353800" y="62865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08 / 11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381000" y="171450"/>
            <a:ext cx="44958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FFFF"/>
                </a:solidFill>
                <a:latin typeface="Microsoft YaHei"/>
                <a:ea typeface="Microsoft YaHei"/>
              </a:rPr>
              <a:t>3σ </a:t>
            </a: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原则——理论与现实有多接近？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0" y="685800"/>
            <a:ext cx="12192000" cy="2857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graphicFrame xmlns:a16="http://schemas.microsoft.com/office/drawing/2014/main">
        <p:nvGraphicFramePr>
          <p:cNvPr id="6" name=""/>
          <p:cNvGraphicFramePr/>
          <p:nvPr/>
        </p:nvGraphicFramePr>
        <p:xfrm rot="0" flipH="0" flipV="0">
          <a:off x="1809750" y="952500"/>
          <a:ext cx="8572500" cy="2095500"/>
        </p:xfrm>
        <a:graphic>
          <a:graphicData uri="http://schemas.openxmlformats.org/drawingml/2006/table">
            <a:tbl>
              <a:tblGrid>
                <a:gridCol w="1415433">
                  <a:extLst>
                    <a:ext uri="{9D8B030D-6E8A-4147-A177-3AD203B41FA5}">
                      <a16:colId val="1"/>
                    </a:ext>
                  </a:extLst>
                </a:gridCol>
                <a:gridCol w="2271541">
                  <a:extLst>
                    <a:ext uri="{9D8B030D-6E8A-4147-A177-3AD203B41FA5}">
                      <a16:colId val="2"/>
                    </a:ext>
                  </a:extLst>
                </a:gridCol>
                <a:gridCol w="2613985">
                  <a:extLst>
                    <a:ext uri="{9D8B030D-6E8A-4147-A177-3AD203B41FA5}">
                      <a16:colId val="3"/>
                    </a:ext>
                  </a:extLst>
                </a:gridCol>
                <a:gridCol w="2271541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52387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范围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理论值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男性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女性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52387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50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±1σ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50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68.27%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50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70.00%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50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68.77%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52387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50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±2σ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50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95.45%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50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95.91%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50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96.05%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52387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50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±3σ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50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99.73%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50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100.00%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50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99.60%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</a:tbl>
          </a:graphicData>
        </a:graphic>
      </p:graphicFrame>
      <p:sp>
        <p:nvSpPr>
          <p:cNvPr id="7" name=""/>
          <p:cNvSpPr/>
          <p:nvPr/>
        </p:nvSpPr>
        <p:spPr>
          <a:xfrm rot="0" flipH="0" flipV="0">
            <a:off x="1866900" y="3200400"/>
            <a:ext cx="8515350" cy="14573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8" name=""/>
          <p:cNvSpPr/>
          <p:nvPr/>
        </p:nvSpPr>
        <p:spPr>
          <a:xfrm rot="0" flipH="0" flipV="0">
            <a:off x="1809750" y="3200400"/>
            <a:ext cx="8572500" cy="1457325"/>
          </a:xfrm>
          <a:custGeom>
            <a:pathLst>
              <a:path w="900" h="153">
                <a:moveTo>
                  <a:pt x="0" y="0"/>
                </a:moveTo>
                <a:lnTo>
                  <a:pt x="6" y="0"/>
                </a:lnTo>
                <a:lnTo>
                  <a:pt x="6" y="153"/>
                </a:lnTo>
                <a:lnTo>
                  <a:pt x="0" y="153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2057400" y="3352800"/>
            <a:ext cx="8134350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两组样本的实际覆盖率与正态分布理论值总体接近；因此即使女性样本经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 Shapiro-Wilk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检验发现统计显著偏离，其整体尺度与区间覆盖特征仍具有明显的正态近似价值。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2057400" y="4086225"/>
            <a:ext cx="813435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350">
                <a:solidFill>
                  <a:srgbClr val="8B97A8"/>
                </a:solidFill>
                <a:latin typeface="Microsoft YaHei"/>
                <a:ea typeface="Microsoft YaHei"/>
              </a:rPr>
              <a:t>注意：不得写</a:t>
            </a:r>
            <a:r>
              <a:rPr lang="en-US" sz="1350">
                <a:solidFill>
                  <a:srgbClr val="8B97A8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8B97A8"/>
                </a:solidFill>
                <a:latin typeface="Microsoft YaHei"/>
                <a:ea typeface="Microsoft YaHei"/>
              </a:rPr>
              <a:t>女性也通过了正态性检验</a:t>
            </a:r>
            <a:r>
              <a:rPr lang="en-US" sz="1350">
                <a:solidFill>
                  <a:srgbClr val="8B97A8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8B97A8"/>
                </a:solidFill>
                <a:latin typeface="Microsoft YaHei"/>
                <a:ea typeface="Microsoft YaHei"/>
              </a:rPr>
              <a:t>，也不得写</a:t>
            </a:r>
            <a:r>
              <a:rPr lang="en-US" sz="1350">
                <a:solidFill>
                  <a:srgbClr val="8B97A8"/>
                </a:solidFill>
                <a:latin typeface="Microsoft YaHei"/>
                <a:ea typeface="Microsoft YaHei"/>
              </a:rPr>
              <a:t>"3σ </a:t>
            </a:r>
            <a:r>
              <a:rPr lang="zh-CN" sz="1350">
                <a:solidFill>
                  <a:srgbClr val="8B97A8"/>
                </a:solidFill>
                <a:latin typeface="Microsoft YaHei"/>
                <a:ea typeface="Microsoft YaHei"/>
              </a:rPr>
              <a:t>证明了女性服从正态</a:t>
            </a:r>
            <a:r>
              <a:rPr lang="en-US" sz="1350">
                <a:solidFill>
                  <a:srgbClr val="8B97A8"/>
                </a:solidFill>
                <a:latin typeface="Microsoft YaHei"/>
                <a:ea typeface="Microsoft YaHei"/>
              </a:rPr>
              <a:t>"——</a:t>
            </a:r>
            <a:r>
              <a:rPr lang="zh-CN" sz="1350">
                <a:solidFill>
                  <a:srgbClr val="8B97A8"/>
                </a:solidFill>
                <a:latin typeface="Microsoft YaHei"/>
                <a:ea typeface="Microsoft YaHei"/>
              </a:rPr>
              <a:t>只能说覆盖率与理论值较为接近。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381000" y="6286500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概率论与数理统计课程论文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11353800" y="62865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09 / 11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381000" y="171450"/>
            <a:ext cx="40481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这说明了什么？——价值与局限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0" y="685800"/>
            <a:ext cx="12192000" cy="2857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" name=""/>
          <p:cNvSpPr/>
          <p:nvPr/>
        </p:nvSpPr>
        <p:spPr>
          <a:xfrm rot="0" flipH="0" flipV="0">
            <a:off x="381000" y="914400"/>
            <a:ext cx="5581650" cy="5143500"/>
          </a:xfrm>
          <a:prstGeom prst="roundRect">
            <a:avLst>
              <a:gd name="adj" fmla="val 2222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7" name=""/>
          <p:cNvSpPr/>
          <p:nvPr/>
        </p:nvSpPr>
        <p:spPr>
          <a:xfrm rot="0" flipH="0" flipV="0">
            <a:off x="381000" y="914400"/>
            <a:ext cx="5581650" cy="48577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552450" y="1028700"/>
            <a:ext cx="52387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实际价值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571500" y="1571625"/>
            <a:ext cx="19050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  <a:ea typeface="Microsoft YaHei"/>
              </a:rPr>
              <a:t>✓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876300" y="1571625"/>
            <a:ext cx="4191000" cy="3333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描述总体特征：用少量参数概括分布中心与离散；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571500" y="2038350"/>
            <a:ext cx="19050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  <a:ea typeface="Microsoft YaHei"/>
              </a:rPr>
              <a:t>✓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876300" y="2038350"/>
            <a:ext cx="3667125" cy="3333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通过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 Z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分数判断个体在总体中的相对位置；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571500" y="2505075"/>
            <a:ext cx="180975" cy="666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  <a:ea typeface="Microsoft YaHei"/>
              </a:rPr>
              <a:t>✓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866775" y="2505075"/>
            <a:ext cx="4905375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支持人体工程学、产品尺寸设计、服装、家具、交通工具等人体测量应用。</a:t>
            </a:r>
            <a:endParaRPr/>
          </a:p>
        </p:txBody>
      </p:sp>
      <p:sp>
        <p:nvSpPr>
          <p:cNvPr id="15" name=""/>
          <p:cNvSpPr/>
          <p:nvPr/>
        </p:nvSpPr>
        <p:spPr>
          <a:xfrm rot="0" flipH="0" flipV="0">
            <a:off x="6229350" y="914400"/>
            <a:ext cx="5581650" cy="5143500"/>
          </a:xfrm>
          <a:prstGeom prst="roundRect">
            <a:avLst>
              <a:gd name="adj" fmla="val 2222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6" name=""/>
          <p:cNvSpPr/>
          <p:nvPr/>
        </p:nvSpPr>
        <p:spPr>
          <a:xfrm rot="0" flipH="0" flipV="0">
            <a:off x="6229350" y="914400"/>
            <a:ext cx="5581650" cy="485775"/>
          </a:xfrm>
          <a:prstGeom prst="rect">
            <a:avLst/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6400800" y="1028700"/>
            <a:ext cx="52387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局限性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6419850" y="1552575"/>
            <a:ext cx="666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D9534F"/>
                </a:solidFill>
                <a:latin typeface="Microsoft YaHei"/>
                <a:ea typeface="Microsoft YaHei"/>
              </a:rPr>
              <a:t>!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6600825" y="1552575"/>
            <a:ext cx="3524250" cy="3048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样本是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 CHNS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抽样样本，不等于全国总体；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6419850" y="1952625"/>
            <a:ext cx="666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D9534F"/>
                </a:solidFill>
                <a:latin typeface="Microsoft YaHei"/>
                <a:ea typeface="Microsoft YaHei"/>
              </a:rPr>
              <a:t>!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6600825" y="1952625"/>
            <a:ext cx="2171700" cy="3048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年龄和性别划分非常重要；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6419850" y="2352675"/>
            <a:ext cx="666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D9534F"/>
                </a:solidFill>
                <a:latin typeface="Microsoft YaHei"/>
                <a:ea typeface="Microsoft YaHei"/>
              </a:rPr>
              <a:t>!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6600825" y="2352675"/>
            <a:ext cx="5019675" cy="3048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若将不同年龄、性别、地区混在一起，可能呈偏态或混合分布；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6419850" y="2752725"/>
            <a:ext cx="66675" cy="609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D9534F"/>
                </a:solidFill>
                <a:latin typeface="Microsoft YaHei"/>
                <a:ea typeface="Microsoft YaHei"/>
              </a:rPr>
              <a:t>!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600825" y="2752725"/>
            <a:ext cx="5019675" cy="609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Shapiro-Wilk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对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是否存在统计显著偏离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敏感，不能单独作为模型实际意义的唯一依据；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419850" y="3457575"/>
            <a:ext cx="666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D9534F"/>
                </a:solidFill>
                <a:latin typeface="Microsoft YaHei"/>
                <a:ea typeface="Microsoft YaHei"/>
              </a:rPr>
              <a:t>!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6600825" y="3457575"/>
            <a:ext cx="4705350" cy="3048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正态分布是现实数据的近似模型，而非对现实的绝对描述。</a:t>
            </a:r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381000" y="6286500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概率论与数理统计课程论文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11353800" y="62865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10 / 11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381000" y="171450"/>
            <a:ext cx="571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结论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0" y="685800"/>
            <a:ext cx="12192000" cy="2857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" name=""/>
          <p:cNvSpPr/>
          <p:nvPr/>
        </p:nvSpPr>
        <p:spPr>
          <a:xfrm rot="0" flipH="0" flipV="0">
            <a:off x="571500" y="914400"/>
            <a:ext cx="381000" cy="3810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704850" y="99060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104900" y="914400"/>
            <a:ext cx="10515600" cy="3524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在合理划分研究总体后，人体身高数据具有接近正态分布的现实基础。</a:t>
            </a:r>
            <a:endParaRPr/>
          </a:p>
        </p:txBody>
      </p:sp>
      <p:sp>
        <p:nvSpPr>
          <p:cNvPr id="9" name=""/>
          <p:cNvSpPr/>
          <p:nvPr/>
        </p:nvSpPr>
        <p:spPr>
          <a:xfrm rot="0" flipH="0" flipV="0">
            <a:off x="571500" y="1428750"/>
            <a:ext cx="381000" cy="3810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704850" y="150495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1104900" y="1428750"/>
            <a:ext cx="10515600" cy="3524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2011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年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 CHNS 20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～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24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岁样本中，男性身高与正态模型的统计吻合程度较高；女性存在轻度统计偏离。</a:t>
            </a:r>
            <a:endParaRPr/>
          </a:p>
        </p:txBody>
      </p:sp>
      <p:sp>
        <p:nvSpPr>
          <p:cNvPr id="12" name=""/>
          <p:cNvSpPr/>
          <p:nvPr/>
        </p:nvSpPr>
        <p:spPr>
          <a:xfrm rot="0" flipH="0" flipV="0">
            <a:off x="571500" y="1943100"/>
            <a:ext cx="381000" cy="3810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704850" y="201930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1104900" y="1943100"/>
            <a:ext cx="10515600" cy="3524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3σ 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覆盖率显示两组样本仍与正态分布的经典概率规律保持较高一致性。</a:t>
            </a:r>
            <a:endParaRPr/>
          </a:p>
        </p:txBody>
      </p:sp>
      <p:sp>
        <p:nvSpPr>
          <p:cNvPr id="15" name=""/>
          <p:cNvSpPr/>
          <p:nvPr/>
        </p:nvSpPr>
        <p:spPr>
          <a:xfrm rot="0" flipH="0" flipV="0">
            <a:off x="571500" y="2457450"/>
            <a:ext cx="381000" cy="3810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704850" y="2533650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1104900" y="2457450"/>
            <a:ext cx="10515600" cy="704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正态分布的价值在于提供一种简洁、可解释、可计算的近似模型，同时必须注意研究总体、样本代表性与统计检验方法的限制。</a:t>
            </a:r>
            <a:endParaRPr/>
          </a:p>
        </p:txBody>
      </p:sp>
      <p:sp>
        <p:nvSpPr>
          <p:cNvPr id="18" name=""/>
          <p:cNvSpPr/>
          <p:nvPr/>
        </p:nvSpPr>
        <p:spPr>
          <a:xfrm rot="0" flipH="0" flipV="0">
            <a:off x="628650" y="3352800"/>
            <a:ext cx="11049000" cy="52387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9" name=""/>
          <p:cNvSpPr/>
          <p:nvPr/>
        </p:nvSpPr>
        <p:spPr>
          <a:xfrm rot="0" flipH="0" flipV="0">
            <a:off x="571500" y="3352800"/>
            <a:ext cx="11106150" cy="523875"/>
          </a:xfrm>
          <a:custGeom>
            <a:pathLst>
              <a:path w="1166" h="55">
                <a:moveTo>
                  <a:pt x="0" y="0"/>
                </a:moveTo>
                <a:lnTo>
                  <a:pt x="6" y="0"/>
                </a:lnTo>
                <a:lnTo>
                  <a:pt x="6" y="55"/>
                </a:lnTo>
                <a:lnTo>
                  <a:pt x="0" y="55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819150" y="3486150"/>
            <a:ext cx="10610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Microsoft YaHei"/>
                <a:ea typeface="Microsoft YaHei"/>
              </a:rPr>
              <a:t>正态分布不是现实本身，而是理解现实数据的一种模型。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571500" y="4029075"/>
            <a:ext cx="11049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主要参考文献：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>[1]–[13]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381000" y="6286500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概率论与数理统计课程论文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11353800" y="62865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11 / 11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2026-09-26T09:06:31Z</dcterms:created>
  <dcterms:modified xsi:type="dcterms:W3CDTF">2026-09-26T09:06:31Z</dcterms:modified>
</cp:coreProperties>
</file>