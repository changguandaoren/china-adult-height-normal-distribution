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0" d="100"/>
          <a:sy n="60" d="100"/>
        </p:scale>
        <p:origin x="884" y="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cover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5968"/>
            <a:ext cx="12191969" cy="23780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1481328"/>
            <a:ext cx="10820369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0">
                <a:solidFill>
                  <a:srgbClr val="6E7A8A"/>
                </a:solidFill>
                <a:latin typeface="微软雅黑"/>
              </a:rPr>
              <a:t>概 率 论 与 数 理 统 计  ·  课 程 论 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121408"/>
            <a:ext cx="10820369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000" b="1">
                <a:solidFill>
                  <a:srgbClr val="1B3A6B"/>
                </a:solidFill>
                <a:latin typeface="微软雅黑"/>
              </a:rPr>
              <a:t>正态分布在现实数据分析中的应用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200400"/>
            <a:ext cx="10820369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100" b="0">
                <a:solidFill>
                  <a:srgbClr val="14263C"/>
                </a:solidFill>
                <a:latin typeface="微软雅黑"/>
              </a:rPr>
              <a:t>——基于中国成年人身高数据的案例分析</a:t>
            </a:r>
          </a:p>
        </p:txBody>
      </p:sp>
      <p:sp>
        <p:nvSpPr>
          <p:cNvPr id="6" name="Rectangle 5"/>
          <p:cNvSpPr/>
          <p:nvPr/>
        </p:nvSpPr>
        <p:spPr>
          <a:xfrm>
            <a:off x="5547344" y="4041648"/>
            <a:ext cx="1097280" cy="27432"/>
          </a:xfrm>
          <a:prstGeom prst="rect">
            <a:avLst/>
          </a:prstGeom>
          <a:solidFill>
            <a:srgbClr val="D3D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138650" y="4462431"/>
            <a:ext cx="2100000" cy="8001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 dirty="0">
                <a:solidFill>
                  <a:srgbClr val="6E7A8A"/>
                </a:solidFill>
                <a:latin typeface="微软雅黑"/>
              </a:rPr>
              <a:t>成　员</a:t>
            </a:r>
          </a:p>
          <a:p>
            <a:pPr algn="l"/>
            <a:r>
              <a:rPr sz="1400" b="0" dirty="0">
                <a:solidFill>
                  <a:srgbClr val="14263C"/>
                </a:solidFill>
                <a:latin typeface="微软雅黑"/>
              </a:rPr>
              <a:t>赵浩（U202541916）</a:t>
            </a:r>
            <a:endParaRPr lang="en-US" sz="1400" b="0" dirty="0">
              <a:solidFill>
                <a:srgbClr val="14263C"/>
              </a:solidFill>
              <a:latin typeface="微软雅黑"/>
            </a:endParaRPr>
          </a:p>
          <a:p>
            <a:pPr algn="l"/>
            <a:r>
              <a:rPr sz="1400" b="0" dirty="0">
                <a:solidFill>
                  <a:srgbClr val="14263C"/>
                </a:solidFill>
                <a:latin typeface="微软雅黑"/>
              </a:rPr>
              <a:t>张璐玺（U202541915）</a:t>
            </a:r>
          </a:p>
          <a:p>
            <a:pPr algn="l"/>
            <a:r>
              <a:rPr sz="1102" b="0" dirty="0">
                <a:solidFill>
                  <a:srgbClr val="14263C"/>
                </a:solidFill>
                <a:latin typeface="微软雅黑"/>
              </a:rPr>
              <a:t>章轩睿（U202541911）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5098697" y="4620165"/>
            <a:ext cx="10972" cy="484632"/>
          </a:xfrm>
          <a:prstGeom prst="rect">
            <a:avLst/>
          </a:prstGeom>
          <a:solidFill>
            <a:srgbClr val="D3D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120583" y="4428141"/>
            <a:ext cx="95000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1" dirty="0" err="1">
                <a:solidFill>
                  <a:srgbClr val="1B3A6B"/>
                </a:solidFill>
                <a:latin typeface="微软雅黑"/>
              </a:rPr>
              <a:t>汇报人</a:t>
            </a:r>
            <a:r>
              <a:rPr sz="1050" b="1" dirty="0">
                <a:solidFill>
                  <a:srgbClr val="1B3A6B"/>
                </a:solidFill>
                <a:latin typeface="微软雅黑"/>
              </a:rPr>
              <a:t>：</a:t>
            </a:r>
          </a:p>
          <a:p>
            <a:pPr algn="l"/>
            <a:r>
              <a:rPr sz="1102" b="1" dirty="0" err="1">
                <a:solidFill>
                  <a:srgbClr val="1B3A6B"/>
                </a:solidFill>
                <a:latin typeface="微软雅黑"/>
              </a:rPr>
              <a:t>张璐玺</a:t>
            </a:r>
            <a:endParaRPr sz="1700" b="1" dirty="0">
              <a:solidFill>
                <a:srgbClr val="1B3A6B"/>
              </a:solidFill>
              <a:latin typeface="微软雅黑"/>
            </a:endParaRPr>
          </a:p>
        </p:txBody>
      </p:sp>
      <p:sp>
        <p:nvSpPr>
          <p:cNvPr id="9" name="TextBox 10"/>
          <p:cNvSpPr txBox="1"/>
          <p:nvPr/>
        </p:nvSpPr>
        <p:spPr>
          <a:xfrm>
            <a:off x="8790110" y="4428141"/>
            <a:ext cx="130000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26" b="0" dirty="0" err="1">
                <a:solidFill>
                  <a:srgbClr val="6E7A8A"/>
                </a:solidFill>
                <a:latin typeface="微软雅黑"/>
              </a:rPr>
              <a:t>日　期</a:t>
            </a:r>
          </a:p>
          <a:p>
            <a:pPr algn="l"/>
            <a:r>
              <a:rPr sz="1102" b="0" dirty="0" err="1">
                <a:solidFill>
                  <a:srgbClr val="14263C"/>
                </a:solidFill>
                <a:latin typeface="微软雅黑"/>
              </a:rPr>
              <a:t>2026年9月26日</a:t>
            </a:r>
            <a:endParaRPr sz="1700" b="1" dirty="0">
              <a:solidFill>
                <a:srgbClr val="1B3A6B"/>
              </a:solidFill>
              <a:latin typeface="微软雅黑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7768224" y="4620165"/>
            <a:ext cx="10972" cy="484632"/>
          </a:xfrm>
          <a:prstGeom prst="rect">
            <a:avLst/>
          </a:prstGeom>
          <a:solidFill>
            <a:srgbClr val="D3D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7548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9AA6B6"/>
                </a:solidFill>
                <a:latin typeface="微软雅黑"/>
              </a:rPr>
              <a:t>研究动机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369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14263C"/>
                </a:solidFill>
                <a:latin typeface="微软雅黑"/>
              </a:rPr>
              <a:t>为什么是身高？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99616"/>
            <a:ext cx="777240" cy="41148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85800" y="6437376"/>
            <a:ext cx="10820369" cy="10972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6483096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9AA6B6"/>
                </a:solidFill>
                <a:latin typeface="微软雅黑"/>
              </a:rPr>
              <a:t>概率论与数理统计 · 课程汇报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08889" y="6483096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>
                <a:solidFill>
                  <a:srgbClr val="6E7A8A"/>
                </a:solidFill>
                <a:latin typeface="微软雅黑"/>
              </a:rPr>
              <a:t>02 / 10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847088"/>
            <a:ext cx="3228837" cy="20116"/>
          </a:xfrm>
          <a:prstGeom prst="rect">
            <a:avLst/>
          </a:prstGeom>
          <a:solidFill>
            <a:srgbClr val="D3D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99339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9AA6B6"/>
                </a:solidFill>
                <a:latin typeface="微软雅黑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304288"/>
            <a:ext cx="3228837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14263C"/>
                </a:solidFill>
                <a:latin typeface="微软雅黑"/>
              </a:rPr>
              <a:t>连续型变量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852928"/>
            <a:ext cx="3228837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6E7A8A"/>
                </a:solidFill>
                <a:latin typeface="微软雅黑"/>
              </a:rPr>
              <a:t>身高是连续型人体测量变量，
可测量、可比较、可重复。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1565" y="1847088"/>
            <a:ext cx="3228837" cy="20116"/>
          </a:xfrm>
          <a:prstGeom prst="rect">
            <a:avLst/>
          </a:prstGeom>
          <a:solidFill>
            <a:srgbClr val="D3D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481565" y="199339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9AA6B6"/>
                </a:solidFill>
                <a:latin typeface="微软雅黑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1565" y="2304288"/>
            <a:ext cx="3228837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14263C"/>
                </a:solidFill>
                <a:latin typeface="微软雅黑"/>
              </a:rPr>
              <a:t>接近钟形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1565" y="2852928"/>
            <a:ext cx="3228837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6E7A8A"/>
                </a:solidFill>
                <a:latin typeface="微软雅黑"/>
              </a:rPr>
              <a:t>控制年龄与性别后，身高常呈
近似钟形，适合正态近似。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77331" y="1847088"/>
            <a:ext cx="3228837" cy="20116"/>
          </a:xfrm>
          <a:prstGeom prst="rect">
            <a:avLst/>
          </a:prstGeom>
          <a:solidFill>
            <a:srgbClr val="D3D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77331" y="199339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9AA6B6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7331" y="2304288"/>
            <a:ext cx="3228837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14263C"/>
                </a:solidFill>
                <a:latin typeface="微软雅黑"/>
              </a:rPr>
              <a:t>参数简洁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7331" y="2852928"/>
            <a:ext cx="3228837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6E7A8A"/>
                </a:solidFill>
                <a:latin typeface="微软雅黑"/>
              </a:rPr>
              <a:t>只需 μ 与 σ 两个参数，
即可刻画中心与离散。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4572000"/>
            <a:ext cx="10820369" cy="123444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85800" y="4572000"/>
            <a:ext cx="50292" cy="1234440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69848" y="4608576"/>
            <a:ext cx="10088849" cy="11612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>
                <a:solidFill>
                  <a:srgbClr val="1B3A6B"/>
                </a:solidFill>
                <a:latin typeface="微软雅黑"/>
              </a:rPr>
              <a:t>核心问题　</a:t>
            </a:r>
            <a:r>
              <a:rPr sz="1700" b="0">
                <a:solidFill>
                  <a:srgbClr val="14263C"/>
                </a:solidFill>
                <a:latin typeface="微软雅黑"/>
              </a:rPr>
              <a:t>现实中的身高数据，到底可以在多大程度上用正态分布近似描述？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7548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9AA6B6"/>
                </a:solidFill>
                <a:latin typeface="微软雅黑"/>
              </a:rPr>
              <a:t>理论基础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369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14263C"/>
                </a:solidFill>
                <a:latin typeface="微软雅黑"/>
              </a:rPr>
              <a:t>正态分布的基本理论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99616"/>
            <a:ext cx="777240" cy="41148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85800" y="6437376"/>
            <a:ext cx="10820369" cy="10972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6483096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9AA6B6"/>
                </a:solidFill>
                <a:latin typeface="微软雅黑"/>
              </a:rPr>
              <a:t>概率论与数理统计 · 课程汇报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08889" y="6483096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>
                <a:solidFill>
                  <a:srgbClr val="6E7A8A"/>
                </a:solidFill>
                <a:latin typeface="微软雅黑"/>
              </a:rPr>
              <a:t>03 / 10</a:t>
            </a:r>
          </a:p>
        </p:txBody>
      </p:sp>
      <p:pic>
        <p:nvPicPr>
          <p:cNvPr id="8" name="Picture 7" descr="f_d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0300" y="1926471"/>
            <a:ext cx="3383280" cy="750985"/>
          </a:xfrm>
          <a:prstGeom prst="rect">
            <a:avLst/>
          </a:prstGeom>
        </p:spPr>
      </p:pic>
      <p:pic>
        <p:nvPicPr>
          <p:cNvPr id="9" name="Picture 8" descr="f_dens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951777"/>
            <a:ext cx="6355080" cy="1044048"/>
          </a:xfrm>
          <a:prstGeom prst="rect">
            <a:avLst/>
          </a:prstGeom>
        </p:spPr>
      </p:pic>
      <p:pic>
        <p:nvPicPr>
          <p:cNvPr id="10" name="Picture 9" descr="f_z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83180" y="4270146"/>
            <a:ext cx="3017520" cy="727083"/>
          </a:xfrm>
          <a:prstGeom prst="rect">
            <a:avLst/>
          </a:prstGeom>
        </p:spPr>
      </p:pic>
      <p:pic>
        <p:nvPicPr>
          <p:cNvPr id="11" name="Picture 10" descr="f_moment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34540" y="5271549"/>
            <a:ext cx="4114800" cy="592666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7699248" y="1874519"/>
            <a:ext cx="10972" cy="4069080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028431" y="1874519"/>
            <a:ext cx="3566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1B3A6B"/>
                </a:solidFill>
                <a:latin typeface="微软雅黑"/>
              </a:rPr>
              <a:t>3σ 原则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28431" y="2249424"/>
            <a:ext cx="3566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6E7A8A"/>
                </a:solidFill>
                <a:latin typeface="微软雅黑"/>
              </a:rPr>
              <a:t>理论覆盖率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28431" y="2670048"/>
            <a:ext cx="1097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14263C"/>
                </a:solidFill>
                <a:latin typeface="微软雅黑"/>
              </a:rPr>
              <a:t>μ±1σ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98280" y="2633472"/>
            <a:ext cx="2496312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2300" b="1">
                <a:solidFill>
                  <a:srgbClr val="1B3A6B"/>
                </a:solidFill>
                <a:latin typeface="微软雅黑"/>
              </a:rPr>
              <a:t>68.27%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28431" y="3182112"/>
            <a:ext cx="3566160" cy="82296"/>
          </a:xfrm>
          <a:prstGeom prst="rect">
            <a:avLst/>
          </a:prstGeom>
          <a:solidFill>
            <a:srgbClr val="EC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028431" y="3182112"/>
            <a:ext cx="2434617" cy="82296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028431" y="3749039"/>
            <a:ext cx="1097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14263C"/>
                </a:solidFill>
                <a:latin typeface="微软雅黑"/>
              </a:rPr>
              <a:t>μ±2σ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98280" y="3712463"/>
            <a:ext cx="2496312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2300" b="1">
                <a:solidFill>
                  <a:srgbClr val="1B3A6B"/>
                </a:solidFill>
                <a:latin typeface="微软雅黑"/>
              </a:rPr>
              <a:t>95.45%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28431" y="4261104"/>
            <a:ext cx="3566160" cy="82296"/>
          </a:xfrm>
          <a:prstGeom prst="rect">
            <a:avLst/>
          </a:prstGeom>
          <a:solidFill>
            <a:srgbClr val="EC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028431" y="4261104"/>
            <a:ext cx="3403899" cy="82296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028431" y="4828031"/>
            <a:ext cx="1097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14263C"/>
                </a:solidFill>
                <a:latin typeface="微软雅黑"/>
              </a:rPr>
              <a:t>μ±3σ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98280" y="4791455"/>
            <a:ext cx="2496312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2300" b="1">
                <a:solidFill>
                  <a:srgbClr val="1B3A6B"/>
                </a:solidFill>
                <a:latin typeface="微软雅黑"/>
              </a:rPr>
              <a:t>99.73%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28431" y="5340096"/>
            <a:ext cx="3566160" cy="82296"/>
          </a:xfrm>
          <a:prstGeom prst="rect">
            <a:avLst/>
          </a:prstGeom>
          <a:solidFill>
            <a:srgbClr val="EC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8028431" y="5340096"/>
            <a:ext cx="3556531" cy="82296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7548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9AA6B6"/>
                </a:solidFill>
                <a:latin typeface="微软雅黑"/>
              </a:rPr>
              <a:t>数据来源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369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14263C"/>
                </a:solidFill>
                <a:latin typeface="微软雅黑"/>
              </a:rPr>
              <a:t>数据来源与研究总体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99616"/>
            <a:ext cx="777240" cy="41148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85800" y="6437376"/>
            <a:ext cx="10820369" cy="10972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6483096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9AA6B6"/>
                </a:solidFill>
                <a:latin typeface="微软雅黑"/>
              </a:rPr>
              <a:t>概率论与数理统计 · 课程汇报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08889" y="6483096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>
                <a:solidFill>
                  <a:srgbClr val="6E7A8A"/>
                </a:solidFill>
                <a:latin typeface="微软雅黑"/>
              </a:rPr>
              <a:t>04 / 10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810512"/>
            <a:ext cx="2417056" cy="20116"/>
          </a:xfrm>
          <a:prstGeom prst="rect">
            <a:avLst/>
          </a:prstGeom>
          <a:solidFill>
            <a:srgbClr val="D3D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938528"/>
            <a:ext cx="241705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6E7A8A"/>
                </a:solidFill>
                <a:latin typeface="微软雅黑"/>
              </a:rPr>
              <a:t>数据库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212848"/>
            <a:ext cx="2417056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1B3A6B"/>
                </a:solidFill>
                <a:latin typeface="微软雅黑"/>
              </a:rPr>
              <a:t>2011 CHNS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86904" y="1810512"/>
            <a:ext cx="2417056" cy="20116"/>
          </a:xfrm>
          <a:prstGeom prst="rect">
            <a:avLst/>
          </a:prstGeom>
          <a:solidFill>
            <a:srgbClr val="D3D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486904" y="1938528"/>
            <a:ext cx="241705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6E7A8A"/>
                </a:solidFill>
                <a:latin typeface="微软雅黑"/>
              </a:rPr>
              <a:t>调查轮次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86904" y="2212848"/>
            <a:ext cx="2417056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1B3A6B"/>
                </a:solidFill>
                <a:latin typeface="微软雅黑"/>
              </a:rPr>
              <a:t>2011 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88008" y="1810512"/>
            <a:ext cx="2417056" cy="20116"/>
          </a:xfrm>
          <a:prstGeom prst="rect">
            <a:avLst/>
          </a:prstGeom>
          <a:solidFill>
            <a:srgbClr val="D3D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88008" y="1938528"/>
            <a:ext cx="241705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6E7A8A"/>
                </a:solidFill>
                <a:latin typeface="微软雅黑"/>
              </a:rPr>
              <a:t>年龄范围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8008" y="2212848"/>
            <a:ext cx="2417056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1B3A6B"/>
                </a:solidFill>
                <a:latin typeface="微软雅黑"/>
              </a:rPr>
              <a:t>20～24 岁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89113" y="1810512"/>
            <a:ext cx="2417056" cy="20116"/>
          </a:xfrm>
          <a:prstGeom prst="rect">
            <a:avLst/>
          </a:prstGeom>
          <a:solidFill>
            <a:srgbClr val="D3D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089113" y="1938528"/>
            <a:ext cx="241705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6E7A8A"/>
                </a:solidFill>
                <a:latin typeface="微软雅黑"/>
              </a:rPr>
              <a:t>有效样本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89113" y="2212848"/>
            <a:ext cx="2417056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1B3A6B"/>
                </a:solidFill>
                <a:latin typeface="微软雅黑"/>
              </a:rPr>
              <a:t>473 人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3035808"/>
            <a:ext cx="10820369" cy="10972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85800" y="3310128"/>
            <a:ext cx="5669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1B3A6B"/>
                </a:solidFill>
                <a:latin typeface="微软雅黑"/>
              </a:rPr>
              <a:t>研究总体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3621024"/>
            <a:ext cx="566928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14263C"/>
                </a:solidFill>
                <a:latin typeface="微软雅黑"/>
              </a:rPr>
              <a:t>2011 年 CHNS 调查中年龄为 20～24 岁的成年人，
按性别分别进行分析。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3310128"/>
            <a:ext cx="48280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1B3A6B"/>
                </a:solidFill>
                <a:latin typeface="微软雅黑"/>
              </a:rPr>
              <a:t>有效样本构成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75120" y="3675887"/>
            <a:ext cx="4828032" cy="384048"/>
          </a:xfrm>
          <a:prstGeom prst="rect">
            <a:avLst/>
          </a:prstGeom>
          <a:solidFill>
            <a:srgbClr val="2E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8920716" y="3675887"/>
            <a:ext cx="2582435" cy="384048"/>
          </a:xfrm>
          <a:prstGeom prst="rect">
            <a:avLst/>
          </a:prstGeom>
          <a:solidFill>
            <a:srgbClr val="C46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675120" y="4187952"/>
            <a:ext cx="23774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2E6FB7"/>
                </a:solidFill>
                <a:latin typeface="微软雅黑"/>
              </a:rPr>
              <a:t>男性 220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52560" y="4187952"/>
            <a:ext cx="245059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400" b="1">
                <a:solidFill>
                  <a:srgbClr val="C4623F"/>
                </a:solidFill>
                <a:latin typeface="微软雅黑"/>
              </a:rPr>
              <a:t>女性 253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" y="5358384"/>
            <a:ext cx="10820369" cy="77724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685800" y="5358384"/>
            <a:ext cx="50292" cy="777240"/>
          </a:xfrm>
          <a:prstGeom prst="rect">
            <a:avLst/>
          </a:prstGeom>
          <a:solidFill>
            <a:srgbClr val="C46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069848" y="5394960"/>
            <a:ext cx="10088849" cy="7040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>
                <a:solidFill>
                  <a:srgbClr val="C4623F"/>
                </a:solidFill>
                <a:latin typeface="微软雅黑"/>
              </a:rPr>
              <a:t>注意：</a:t>
            </a:r>
            <a:r>
              <a:rPr sz="1300" b="0">
                <a:solidFill>
                  <a:srgbClr val="14263C"/>
                </a:solidFill>
                <a:latin typeface="微软雅黑"/>
              </a:rPr>
              <a:t>CHNS 为抽样样本，结论不能等同于“中国所有成年人”的总体规律。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7548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9AA6B6"/>
                </a:solidFill>
                <a:latin typeface="微软雅黑"/>
              </a:rPr>
              <a:t>样本构造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369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14263C"/>
                </a:solidFill>
                <a:latin typeface="微软雅黑"/>
              </a:rPr>
              <a:t>样本形成与描述统计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99616"/>
            <a:ext cx="777240" cy="41148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85800" y="6437376"/>
            <a:ext cx="10820369" cy="10972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6483096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9AA6B6"/>
                </a:solidFill>
                <a:latin typeface="微软雅黑"/>
              </a:rPr>
              <a:t>概率论与数理统计 · 课程汇报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08889" y="6483096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>
                <a:solidFill>
                  <a:srgbClr val="6E7A8A"/>
                </a:solidFill>
                <a:latin typeface="微软雅黑"/>
              </a:rPr>
              <a:t>05 /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920240"/>
            <a:ext cx="2033008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200" b="1">
                <a:solidFill>
                  <a:srgbClr val="1B3A6B"/>
                </a:solidFill>
                <a:latin typeface="微软雅黑"/>
              </a:rPr>
              <a:t>518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523744"/>
            <a:ext cx="203300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50" b="0">
                <a:solidFill>
                  <a:srgbClr val="6E7A8A"/>
                </a:solidFill>
                <a:latin typeface="微软雅黑"/>
              </a:rPr>
              <a:t>原始记录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94296" y="2029968"/>
            <a:ext cx="42062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700" b="0">
                <a:solidFill>
                  <a:srgbClr val="9AA6B6"/>
                </a:solidFill>
                <a:latin typeface="微软雅黑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4920" y="1920240"/>
            <a:ext cx="2033008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200" b="1">
                <a:solidFill>
                  <a:srgbClr val="6E7A8A"/>
                </a:solidFill>
                <a:latin typeface="微软雅黑"/>
              </a:rPr>
              <a:t>−45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4920" y="2523744"/>
            <a:ext cx="203300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50" b="0">
                <a:solidFill>
                  <a:srgbClr val="6E7A8A"/>
                </a:solidFill>
                <a:latin typeface="微软雅黑"/>
              </a:rPr>
              <a:t>身高缺失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3416" y="2029968"/>
            <a:ext cx="42062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700" b="0">
                <a:solidFill>
                  <a:srgbClr val="9AA6B6"/>
                </a:solidFill>
                <a:latin typeface="微软雅黑"/>
              </a:rP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4040" y="1920240"/>
            <a:ext cx="2033008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200" b="1">
                <a:solidFill>
                  <a:srgbClr val="1B3A6B"/>
                </a:solidFill>
                <a:latin typeface="微软雅黑"/>
              </a:rPr>
              <a:t>473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4040" y="2523744"/>
            <a:ext cx="203300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50" b="0">
                <a:solidFill>
                  <a:srgbClr val="6E7A8A"/>
                </a:solidFill>
                <a:latin typeface="微软雅黑"/>
              </a:rPr>
              <a:t>有效样本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52537" y="2029968"/>
            <a:ext cx="42062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700" b="0">
                <a:solidFill>
                  <a:srgbClr val="9AA6B6"/>
                </a:solidFill>
                <a:latin typeface="微软雅黑"/>
              </a:rP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73161" y="1920240"/>
            <a:ext cx="2033008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00" b="1">
                <a:solidFill>
                  <a:srgbClr val="2E6FB7"/>
                </a:solidFill>
                <a:latin typeface="微软雅黑"/>
              </a:rPr>
              <a:t>220</a:t>
            </a:r>
            <a:r>
              <a:rPr sz="2400" b="0">
                <a:solidFill>
                  <a:srgbClr val="9AA6B6"/>
                </a:solidFill>
                <a:latin typeface="微软雅黑"/>
              </a:rPr>
              <a:t>  /  </a:t>
            </a:r>
            <a:r>
              <a:rPr sz="3000" b="1">
                <a:solidFill>
                  <a:srgbClr val="C4623F"/>
                </a:solidFill>
                <a:latin typeface="微软雅黑"/>
              </a:rPr>
              <a:t>253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73161" y="2523744"/>
            <a:ext cx="203300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50" b="0">
                <a:solidFill>
                  <a:srgbClr val="6E7A8A"/>
                </a:solidFill>
                <a:latin typeface="微软雅黑"/>
              </a:rPr>
              <a:t>男 / 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2889504"/>
            <a:ext cx="1082036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9AA6B6"/>
                </a:solidFill>
                <a:latin typeface="微软雅黑"/>
              </a:rPr>
              <a:t>（无任何记录因超出 100～220 cm 筛选范围被删除）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3401568"/>
            <a:ext cx="5257800" cy="41148"/>
          </a:xfrm>
          <a:prstGeom prst="rect">
            <a:avLst/>
          </a:prstGeom>
          <a:solidFill>
            <a:srgbClr val="2E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85800" y="3639312"/>
            <a:ext cx="52578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2E6FB7"/>
                </a:solidFill>
                <a:latin typeface="微软雅黑"/>
              </a:rPr>
              <a:t>男性</a:t>
            </a:r>
            <a:r>
              <a:rPr sz="1200" b="0">
                <a:solidFill>
                  <a:srgbClr val="6E7A8A"/>
                </a:solidFill>
                <a:latin typeface="微软雅黑"/>
              </a:rPr>
              <a:t>　n = 220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023360"/>
            <a:ext cx="525780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2E6FB7"/>
                </a:solidFill>
                <a:latin typeface="微软雅黑"/>
              </a:rPr>
              <a:t>171.56 ± 6.82</a:t>
            </a:r>
            <a:r>
              <a:rPr sz="1300" b="0">
                <a:solidFill>
                  <a:srgbClr val="6E7A8A"/>
                </a:solidFill>
                <a:latin typeface="微软雅黑"/>
              </a:rPr>
              <a:t>  cm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4736592"/>
            <a:ext cx="5257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14263C"/>
                </a:solidFill>
                <a:latin typeface="微软雅黑"/>
              </a:rPr>
              <a:t>均值 171.5614 cm　标准差 6.8218 cm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5065776"/>
            <a:ext cx="5257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6E7A8A"/>
                </a:solidFill>
                <a:latin typeface="微软雅黑"/>
              </a:rPr>
              <a:t>偏度 0.0107　超额峰度 −0.0150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45352" y="3401568"/>
            <a:ext cx="5257800" cy="41148"/>
          </a:xfrm>
          <a:prstGeom prst="rect">
            <a:avLst/>
          </a:prstGeom>
          <a:solidFill>
            <a:srgbClr val="C46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245352" y="3639312"/>
            <a:ext cx="52578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C4623F"/>
                </a:solidFill>
                <a:latin typeface="微软雅黑"/>
              </a:rPr>
              <a:t>女性</a:t>
            </a:r>
            <a:r>
              <a:rPr sz="1200" b="0">
                <a:solidFill>
                  <a:srgbClr val="6E7A8A"/>
                </a:solidFill>
                <a:latin typeface="微软雅黑"/>
              </a:rPr>
              <a:t>　n = 253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5352" y="4023360"/>
            <a:ext cx="525780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C4623F"/>
                </a:solidFill>
                <a:latin typeface="微软雅黑"/>
              </a:rPr>
              <a:t>159.59 ± 6.08</a:t>
            </a:r>
            <a:r>
              <a:rPr sz="1300" b="0">
                <a:solidFill>
                  <a:srgbClr val="6E7A8A"/>
                </a:solidFill>
                <a:latin typeface="微软雅黑"/>
              </a:rPr>
              <a:t>  cm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5352" y="4736592"/>
            <a:ext cx="5257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14263C"/>
                </a:solidFill>
                <a:latin typeface="微软雅黑"/>
              </a:rPr>
              <a:t>均值 159.5917 cm　标准差 6.0802 cm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45352" y="5065776"/>
            <a:ext cx="5257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6E7A8A"/>
                </a:solidFill>
                <a:latin typeface="微软雅黑"/>
              </a:rPr>
              <a:t>偏度 −0.3614　超额峰度 0.5907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5800" y="5632704"/>
            <a:ext cx="10820369" cy="10972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7548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9AA6B6"/>
                </a:solidFill>
                <a:latin typeface="微软雅黑"/>
              </a:rPr>
              <a:t>分布形态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369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14263C"/>
                </a:solidFill>
                <a:latin typeface="微软雅黑"/>
              </a:rPr>
              <a:t>直方图：实际分布长什么样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99616"/>
            <a:ext cx="777240" cy="41148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85800" y="6437376"/>
            <a:ext cx="10820369" cy="10972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6483096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9AA6B6"/>
                </a:solidFill>
                <a:latin typeface="微软雅黑"/>
              </a:rPr>
              <a:t>概率论与数理统计 · 课程汇报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08889" y="6483096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>
                <a:solidFill>
                  <a:srgbClr val="6E7A8A"/>
                </a:solidFill>
                <a:latin typeface="微软雅黑"/>
              </a:rPr>
              <a:t>06 / 10</a:t>
            </a:r>
          </a:p>
        </p:txBody>
      </p:sp>
      <p:pic>
        <p:nvPicPr>
          <p:cNvPr id="8" name="Picture 7" descr="fig5_1_2011_CHNS_male_histo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316736"/>
            <a:ext cx="5257800" cy="348156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85800" y="4846320"/>
            <a:ext cx="5257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2E6FB7"/>
                </a:solidFill>
                <a:latin typeface="微软雅黑"/>
              </a:rPr>
              <a:t>图 5-1　男性</a:t>
            </a:r>
          </a:p>
        </p:txBody>
      </p:sp>
      <p:pic>
        <p:nvPicPr>
          <p:cNvPr id="10" name="Picture 9" descr="fig5_2_2011_CHNS_female_histo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5352" y="1316736"/>
            <a:ext cx="5257800" cy="348156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45352" y="4846320"/>
            <a:ext cx="5257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C4623F"/>
                </a:solidFill>
                <a:latin typeface="微软雅黑"/>
              </a:rPr>
              <a:t>图 5-2　女性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5358384"/>
            <a:ext cx="10820369" cy="77724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85800" y="5358384"/>
            <a:ext cx="50292" cy="777240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69848" y="5394960"/>
            <a:ext cx="10088849" cy="7040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>
                <a:solidFill>
                  <a:srgbClr val="14263C"/>
                </a:solidFill>
                <a:latin typeface="微软雅黑"/>
              </a:rPr>
              <a:t>男性更接近正态；女性存在轻度偏离，但整体仍呈单峰钟形。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7548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9AA6B6"/>
                </a:solidFill>
                <a:latin typeface="微软雅黑"/>
              </a:rPr>
              <a:t>正态性检验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369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14263C"/>
                </a:solidFill>
                <a:latin typeface="微软雅黑"/>
              </a:rPr>
              <a:t>Q-Q 图与 Shapiro-Wilk 检验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99616"/>
            <a:ext cx="777240" cy="41148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85800" y="6437376"/>
            <a:ext cx="10820369" cy="10972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6483096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9AA6B6"/>
                </a:solidFill>
                <a:latin typeface="微软雅黑"/>
              </a:rPr>
              <a:t>概率论与数理统计 · 课程汇报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08889" y="6483096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>
                <a:solidFill>
                  <a:srgbClr val="6E7A8A"/>
                </a:solidFill>
                <a:latin typeface="微软雅黑"/>
              </a:rPr>
              <a:t>07 / 10</a:t>
            </a:r>
          </a:p>
        </p:txBody>
      </p:sp>
      <p:pic>
        <p:nvPicPr>
          <p:cNvPr id="8" name="Picture 7" descr="fig5_3_2011_CHNS_male_q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1280160"/>
            <a:ext cx="3977639" cy="397763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85800" y="5294376"/>
            <a:ext cx="5257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>
                <a:solidFill>
                  <a:srgbClr val="2E6FB7"/>
                </a:solidFill>
                <a:latin typeface="微软雅黑"/>
              </a:rPr>
              <a:t>图 5-3　男性</a:t>
            </a:r>
            <a:r>
              <a:rPr sz="1100" b="0">
                <a:solidFill>
                  <a:srgbClr val="6E7A8A"/>
                </a:solidFill>
                <a:latin typeface="微软雅黑"/>
              </a:rPr>
              <a:t>　n = 220</a:t>
            </a:r>
            <a:r>
              <a:rPr sz="1150" b="1">
                <a:solidFill>
                  <a:srgbClr val="14263C"/>
                </a:solidFill>
                <a:latin typeface="微软雅黑"/>
              </a:rPr>
              <a:t>　·　不能拒绝正态性原假设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586984"/>
            <a:ext cx="525780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1B3A6B"/>
                </a:solidFill>
                <a:latin typeface="微软雅黑"/>
              </a:rPr>
              <a:t>W = 0.992062</a:t>
            </a:r>
            <a:r>
              <a:rPr sz="1800" b="0">
                <a:solidFill>
                  <a:srgbClr val="14263C"/>
                </a:solidFill>
                <a:latin typeface="微软雅黑"/>
              </a:rPr>
              <a:t>　　</a:t>
            </a:r>
            <a:r>
              <a:rPr sz="1800" b="1">
                <a:solidFill>
                  <a:srgbClr val="2E6FB7"/>
                </a:solidFill>
                <a:latin typeface="微软雅黑"/>
              </a:rPr>
              <a:t>P = 0.2799</a:t>
            </a:r>
          </a:p>
        </p:txBody>
      </p:sp>
      <p:pic>
        <p:nvPicPr>
          <p:cNvPr id="11" name="Picture 10" descr="fig5_4_2011_CHNS_female_qq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280160"/>
            <a:ext cx="3977639" cy="397763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245352" y="5294376"/>
            <a:ext cx="5257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>
                <a:solidFill>
                  <a:srgbClr val="C4623F"/>
                </a:solidFill>
                <a:latin typeface="微软雅黑"/>
              </a:rPr>
              <a:t>图 5-4　女性</a:t>
            </a:r>
            <a:r>
              <a:rPr sz="1100" b="0">
                <a:solidFill>
                  <a:srgbClr val="6E7A8A"/>
                </a:solidFill>
                <a:latin typeface="微软雅黑"/>
              </a:rPr>
              <a:t>　n = 253</a:t>
            </a:r>
            <a:r>
              <a:rPr sz="1150" b="1">
                <a:solidFill>
                  <a:srgbClr val="14263C"/>
                </a:solidFill>
                <a:latin typeface="微软雅黑"/>
              </a:rPr>
              <a:t>　·　拒绝正态性原假设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45352" y="5586984"/>
            <a:ext cx="525780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1B3A6B"/>
                </a:solidFill>
                <a:latin typeface="微软雅黑"/>
              </a:rPr>
              <a:t>W = 0.987611</a:t>
            </a:r>
            <a:r>
              <a:rPr sz="1800" b="0">
                <a:solidFill>
                  <a:srgbClr val="14263C"/>
                </a:solidFill>
                <a:latin typeface="微软雅黑"/>
              </a:rPr>
              <a:t>　　</a:t>
            </a:r>
            <a:r>
              <a:rPr sz="1800" b="1">
                <a:solidFill>
                  <a:srgbClr val="C4623F"/>
                </a:solidFill>
                <a:latin typeface="微软雅黑"/>
              </a:rPr>
              <a:t>P = 0.0281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126480"/>
            <a:ext cx="10820369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6E7A8A"/>
                </a:solidFill>
                <a:latin typeface="微软雅黑"/>
              </a:rPr>
              <a:t>P &gt; 0.05 不等于证明正态；P &lt; 0.05 也不等于模型完全失效。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7548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9AA6B6"/>
                </a:solidFill>
                <a:latin typeface="微软雅黑"/>
              </a:rPr>
              <a:t>经验覆盖率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369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14263C"/>
                </a:solidFill>
                <a:latin typeface="微软雅黑"/>
              </a:rPr>
              <a:t>3σ 原则：理论与现实有多接近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99616"/>
            <a:ext cx="777240" cy="41148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85800" y="6437376"/>
            <a:ext cx="10820369" cy="10972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6483096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9AA6B6"/>
                </a:solidFill>
                <a:latin typeface="微软雅黑"/>
              </a:rPr>
              <a:t>概率论与数理统计 · 课程汇报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08889" y="6483096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>
                <a:solidFill>
                  <a:srgbClr val="6E7A8A"/>
                </a:solidFill>
                <a:latin typeface="微软雅黑"/>
              </a:rPr>
              <a:t>08 /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47088"/>
            <a:ext cx="237744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>
                <a:solidFill>
                  <a:srgbClr val="9AA6B6"/>
                </a:solidFill>
                <a:latin typeface="微软雅黑"/>
              </a:rPr>
              <a:t>区间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37560" y="1847088"/>
            <a:ext cx="260604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>
                <a:solidFill>
                  <a:srgbClr val="9AA6B6"/>
                </a:solidFill>
                <a:latin typeface="微软雅黑"/>
              </a:rPr>
              <a:t>理论值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1847088"/>
            <a:ext cx="260604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>
                <a:solidFill>
                  <a:srgbClr val="2E6FB7"/>
                </a:solidFill>
                <a:latin typeface="微软雅黑"/>
              </a:rPr>
              <a:t>男性实际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98280" y="1847088"/>
            <a:ext cx="2404872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>
                <a:solidFill>
                  <a:srgbClr val="C4623F"/>
                </a:solidFill>
                <a:latin typeface="微软雅黑"/>
              </a:rPr>
              <a:t>女性实际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2212848"/>
            <a:ext cx="10820369" cy="16459"/>
          </a:xfrm>
          <a:prstGeom prst="rect">
            <a:avLst/>
          </a:prstGeom>
          <a:solidFill>
            <a:srgbClr val="D3D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2487168"/>
            <a:ext cx="237744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14263C"/>
                </a:solidFill>
                <a:latin typeface="微软雅黑"/>
              </a:rPr>
              <a:t>μ±1σ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37560" y="2441448"/>
            <a:ext cx="260604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2500" b="1">
                <a:solidFill>
                  <a:srgbClr val="14263C"/>
                </a:solidFill>
                <a:latin typeface="微软雅黑"/>
              </a:rPr>
              <a:t>68.27%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37560" y="3017520"/>
            <a:ext cx="2606040" cy="77724"/>
          </a:xfrm>
          <a:prstGeom prst="rect">
            <a:avLst/>
          </a:prstGeom>
          <a:solidFill>
            <a:srgbClr val="EC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337560" y="3017520"/>
            <a:ext cx="1779143" cy="77724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217920" y="2441448"/>
            <a:ext cx="260604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2500" b="1">
                <a:solidFill>
                  <a:srgbClr val="2E6FB7"/>
                </a:solidFill>
                <a:latin typeface="微软雅黑"/>
              </a:rPr>
              <a:t>70.00%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3017520"/>
            <a:ext cx="2606040" cy="77724"/>
          </a:xfrm>
          <a:prstGeom prst="rect">
            <a:avLst/>
          </a:prstGeom>
          <a:solidFill>
            <a:srgbClr val="EC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217920" y="3017520"/>
            <a:ext cx="1824228" cy="77724"/>
          </a:xfrm>
          <a:prstGeom prst="rect">
            <a:avLst/>
          </a:prstGeom>
          <a:solidFill>
            <a:srgbClr val="2E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098280" y="2441448"/>
            <a:ext cx="2404872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2500" b="1">
                <a:solidFill>
                  <a:srgbClr val="C4623F"/>
                </a:solidFill>
                <a:latin typeface="微软雅黑"/>
              </a:rPr>
              <a:t>68.77%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98280" y="3017520"/>
            <a:ext cx="2404872" cy="77724"/>
          </a:xfrm>
          <a:prstGeom prst="rect">
            <a:avLst/>
          </a:prstGeom>
          <a:solidFill>
            <a:srgbClr val="EC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9098280" y="3017520"/>
            <a:ext cx="1653830" cy="77724"/>
          </a:xfrm>
          <a:prstGeom prst="rect">
            <a:avLst/>
          </a:prstGeom>
          <a:solidFill>
            <a:srgbClr val="C46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85800" y="3346703"/>
            <a:ext cx="10820369" cy="10972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85800" y="3547872"/>
            <a:ext cx="237744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14263C"/>
                </a:solidFill>
                <a:latin typeface="微软雅黑"/>
              </a:rPr>
              <a:t>μ±2σ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37560" y="3502152"/>
            <a:ext cx="260604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2500" b="1">
                <a:solidFill>
                  <a:srgbClr val="14263C"/>
                </a:solidFill>
                <a:latin typeface="微软雅黑"/>
              </a:rPr>
              <a:t>95.45%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337560" y="4078224"/>
            <a:ext cx="2606040" cy="77724"/>
          </a:xfrm>
          <a:prstGeom prst="rect">
            <a:avLst/>
          </a:prstGeom>
          <a:solidFill>
            <a:srgbClr val="EC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3337560" y="4078224"/>
            <a:ext cx="2487465" cy="77724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217920" y="3502152"/>
            <a:ext cx="260604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2500" b="1">
                <a:solidFill>
                  <a:srgbClr val="2E6FB7"/>
                </a:solidFill>
                <a:latin typeface="微软雅黑"/>
              </a:rPr>
              <a:t>95.91%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17920" y="4078224"/>
            <a:ext cx="2606040" cy="77724"/>
          </a:xfrm>
          <a:prstGeom prst="rect">
            <a:avLst/>
          </a:prstGeom>
          <a:solidFill>
            <a:srgbClr val="EC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6217920" y="4078224"/>
            <a:ext cx="2499452" cy="77724"/>
          </a:xfrm>
          <a:prstGeom prst="rect">
            <a:avLst/>
          </a:prstGeom>
          <a:solidFill>
            <a:srgbClr val="2E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098280" y="3502152"/>
            <a:ext cx="2404872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2500" b="1">
                <a:solidFill>
                  <a:srgbClr val="C4623F"/>
                </a:solidFill>
                <a:latin typeface="微软雅黑"/>
              </a:rPr>
              <a:t>96.05%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098280" y="4078224"/>
            <a:ext cx="2404872" cy="77724"/>
          </a:xfrm>
          <a:prstGeom prst="rect">
            <a:avLst/>
          </a:prstGeom>
          <a:solidFill>
            <a:srgbClr val="EC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9098280" y="4078224"/>
            <a:ext cx="2309879" cy="77724"/>
          </a:xfrm>
          <a:prstGeom prst="rect">
            <a:avLst/>
          </a:prstGeom>
          <a:solidFill>
            <a:srgbClr val="C46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685800" y="4407408"/>
            <a:ext cx="10820369" cy="10972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85800" y="4608576"/>
            <a:ext cx="237744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14263C"/>
                </a:solidFill>
                <a:latin typeface="微软雅黑"/>
              </a:rPr>
              <a:t>μ±3σ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4562856"/>
            <a:ext cx="260604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2500" b="1">
                <a:solidFill>
                  <a:srgbClr val="14263C"/>
                </a:solidFill>
                <a:latin typeface="微软雅黑"/>
              </a:rPr>
              <a:t>99.73%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337560" y="5138928"/>
            <a:ext cx="2606040" cy="77724"/>
          </a:xfrm>
          <a:prstGeom prst="rect">
            <a:avLst/>
          </a:prstGeom>
          <a:solidFill>
            <a:srgbClr val="EC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3337560" y="5138928"/>
            <a:ext cx="2599003" cy="77724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217920" y="4562856"/>
            <a:ext cx="260604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2500" b="1">
                <a:solidFill>
                  <a:srgbClr val="2E6FB7"/>
                </a:solidFill>
                <a:latin typeface="微软雅黑"/>
              </a:rPr>
              <a:t>100.00%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217920" y="5138928"/>
            <a:ext cx="2606040" cy="77724"/>
          </a:xfrm>
          <a:prstGeom prst="rect">
            <a:avLst/>
          </a:prstGeom>
          <a:solidFill>
            <a:srgbClr val="EC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6217920" y="5138928"/>
            <a:ext cx="2606040" cy="77724"/>
          </a:xfrm>
          <a:prstGeom prst="rect">
            <a:avLst/>
          </a:prstGeom>
          <a:solidFill>
            <a:srgbClr val="2E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9098280" y="4562856"/>
            <a:ext cx="2404872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2500" b="1">
                <a:solidFill>
                  <a:srgbClr val="C4623F"/>
                </a:solidFill>
                <a:latin typeface="微软雅黑"/>
              </a:rPr>
              <a:t>99.60%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098280" y="5138928"/>
            <a:ext cx="2404872" cy="77724"/>
          </a:xfrm>
          <a:prstGeom prst="rect">
            <a:avLst/>
          </a:prstGeom>
          <a:solidFill>
            <a:srgbClr val="EC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9098280" y="5138928"/>
            <a:ext cx="2395252" cy="77724"/>
          </a:xfrm>
          <a:prstGeom prst="rect">
            <a:avLst/>
          </a:prstGeom>
          <a:solidFill>
            <a:srgbClr val="C46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685800" y="5504688"/>
            <a:ext cx="10820369" cy="77724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685800" y="5504688"/>
            <a:ext cx="50292" cy="777240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1069848" y="5541264"/>
            <a:ext cx="10088849" cy="7040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>
                <a:solidFill>
                  <a:srgbClr val="14263C"/>
                </a:solidFill>
                <a:latin typeface="微软雅黑"/>
              </a:rPr>
              <a:t>女性虽在检验中被拒绝原假设，其覆盖特征仍与理论值接近；正态模型在此仍是相当好的近似。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7548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9AA6B6"/>
                </a:solidFill>
                <a:latin typeface="微软雅黑"/>
              </a:rPr>
              <a:t>讨论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369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14263C"/>
                </a:solidFill>
                <a:latin typeface="微软雅黑"/>
              </a:rPr>
              <a:t>价值与局限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99616"/>
            <a:ext cx="777240" cy="41148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85800" y="6437376"/>
            <a:ext cx="10820369" cy="10972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6483096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9AA6B6"/>
                </a:solidFill>
                <a:latin typeface="微软雅黑"/>
              </a:rPr>
              <a:t>概率论与数理统计 · 课程汇报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08889" y="6483096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>
                <a:solidFill>
                  <a:srgbClr val="6E7A8A"/>
                </a:solidFill>
                <a:latin typeface="微软雅黑"/>
              </a:rPr>
              <a:t>09 /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10512"/>
            <a:ext cx="50292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>
                <a:solidFill>
                  <a:srgbClr val="14263C"/>
                </a:solidFill>
                <a:latin typeface="微软雅黑"/>
              </a:rPr>
              <a:t>价值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304288"/>
            <a:ext cx="658368" cy="32004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04088" y="2761488"/>
            <a:ext cx="68580" cy="68580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23544" y="2670048"/>
            <a:ext cx="4791456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4263C"/>
                </a:solidFill>
                <a:latin typeface="微软雅黑"/>
              </a:rPr>
              <a:t>用 μ、σ 两个参数概括分布的中心与离散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088" y="3419856"/>
            <a:ext cx="68580" cy="68580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23544" y="3328415"/>
            <a:ext cx="4791456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4263C"/>
                </a:solidFill>
                <a:latin typeface="微软雅黑"/>
              </a:rPr>
              <a:t>标准化 Z 分数判断个体在总体中的相对位置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4088" y="4078223"/>
            <a:ext cx="68580" cy="68580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23544" y="3986783"/>
            <a:ext cx="4791456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4263C"/>
                </a:solidFill>
                <a:latin typeface="微软雅黑"/>
              </a:rPr>
              <a:t>为人体工程学与产品尺寸设计提供依据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4088" y="4736592"/>
            <a:ext cx="68580" cy="68580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23544" y="4645152"/>
            <a:ext cx="4791456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4263C"/>
                </a:solidFill>
                <a:latin typeface="微软雅黑"/>
              </a:rPr>
              <a:t>为区间估计与假设检验提供基础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1810512"/>
            <a:ext cx="505663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>
                <a:solidFill>
                  <a:srgbClr val="14263C"/>
                </a:solidFill>
                <a:latin typeface="微软雅黑"/>
              </a:rPr>
              <a:t>局限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46520" y="2304288"/>
            <a:ext cx="658368" cy="32004"/>
          </a:xfrm>
          <a:prstGeom prst="rect">
            <a:avLst/>
          </a:prstGeom>
          <a:solidFill>
            <a:srgbClr val="C46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464807" y="2761488"/>
            <a:ext cx="68580" cy="68580"/>
          </a:xfrm>
          <a:prstGeom prst="rect">
            <a:avLst/>
          </a:prstGeom>
          <a:solidFill>
            <a:srgbClr val="C46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684264" y="2670048"/>
            <a:ext cx="4818888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4263C"/>
                </a:solidFill>
                <a:latin typeface="微软雅黑"/>
              </a:rPr>
              <a:t>抽样样本不等于全国总体，外推须谨慎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64807" y="3419856"/>
            <a:ext cx="68580" cy="68580"/>
          </a:xfrm>
          <a:prstGeom prst="rect">
            <a:avLst/>
          </a:prstGeom>
          <a:solidFill>
            <a:srgbClr val="C46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684264" y="3328415"/>
            <a:ext cx="4818888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4263C"/>
                </a:solidFill>
                <a:latin typeface="微软雅黑"/>
              </a:rPr>
              <a:t>年龄与性别划分对结论影响很大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64807" y="4078223"/>
            <a:ext cx="68580" cy="68580"/>
          </a:xfrm>
          <a:prstGeom prst="rect">
            <a:avLst/>
          </a:prstGeom>
          <a:solidFill>
            <a:srgbClr val="C46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684264" y="3986783"/>
            <a:ext cx="4818888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4263C"/>
                </a:solidFill>
                <a:latin typeface="微软雅黑"/>
              </a:rPr>
              <a:t>不同群体混合会形成混合分布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64807" y="4736592"/>
            <a:ext cx="68580" cy="68580"/>
          </a:xfrm>
          <a:prstGeom prst="rect">
            <a:avLst/>
          </a:prstGeom>
          <a:solidFill>
            <a:srgbClr val="C46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684264" y="4645152"/>
            <a:ext cx="4818888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4263C"/>
                </a:solidFill>
                <a:latin typeface="微软雅黑"/>
              </a:rPr>
              <a:t>Shapiro-Wilk 敏感，但不能单独判定模型意义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89904" y="1810512"/>
            <a:ext cx="10972" cy="3977639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7548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9AA6B6"/>
                </a:solidFill>
                <a:latin typeface="微软雅黑"/>
              </a:rPr>
              <a:t>结论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369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14263C"/>
                </a:solidFill>
                <a:latin typeface="微软雅黑"/>
              </a:rPr>
              <a:t>结论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99616"/>
            <a:ext cx="777240" cy="41148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85800" y="6437376"/>
            <a:ext cx="10820369" cy="10972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6483096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9AA6B6"/>
                </a:solidFill>
                <a:latin typeface="微软雅黑"/>
              </a:rPr>
              <a:t>概率论与数理统计 · 课程汇报　·　参考文献 [1]–[13]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08889" y="6483096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>
                <a:solidFill>
                  <a:srgbClr val="6E7A8A"/>
                </a:solidFill>
                <a:latin typeface="微软雅黑"/>
              </a:rPr>
              <a:t>10 / 10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810512"/>
            <a:ext cx="10820369" cy="10972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956816"/>
            <a:ext cx="868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1B3A6B"/>
                </a:solidFill>
                <a:latin typeface="微软雅黑"/>
              </a:rPr>
              <a:t>结论一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1965960"/>
            <a:ext cx="986024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>
                <a:solidFill>
                  <a:srgbClr val="14263C"/>
                </a:solidFill>
                <a:latin typeface="微软雅黑"/>
              </a:rPr>
              <a:t>限定研究总体后，身高数据具有接近正态分布的现实基础。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2651760"/>
            <a:ext cx="10820369" cy="10972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2798064"/>
            <a:ext cx="868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1B3A6B"/>
                </a:solidFill>
                <a:latin typeface="微软雅黑"/>
              </a:rPr>
              <a:t>结论二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2807208"/>
            <a:ext cx="986024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>
                <a:solidFill>
                  <a:srgbClr val="14263C"/>
                </a:solidFill>
                <a:latin typeface="微软雅黑"/>
              </a:rPr>
              <a:t>男性与正态模型吻合程度较高，女性存在轻度统计偏离。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3493008"/>
            <a:ext cx="10820369" cy="10972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85800" y="3639312"/>
            <a:ext cx="868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1B3A6B"/>
                </a:solidFill>
                <a:latin typeface="微软雅黑"/>
              </a:rPr>
              <a:t>结论三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3648456"/>
            <a:ext cx="986024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>
                <a:solidFill>
                  <a:srgbClr val="14263C"/>
                </a:solidFill>
                <a:latin typeface="微软雅黑"/>
              </a:rPr>
              <a:t>两组 3σ 覆盖率均与理论值较为接近。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4334256"/>
            <a:ext cx="10820369" cy="10972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85800" y="4480560"/>
            <a:ext cx="868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1B3A6B"/>
                </a:solidFill>
                <a:latin typeface="微软雅黑"/>
              </a:rPr>
              <a:t>结论四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4489704"/>
            <a:ext cx="986024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>
                <a:solidFill>
                  <a:srgbClr val="14263C"/>
                </a:solidFill>
                <a:latin typeface="微软雅黑"/>
              </a:rPr>
              <a:t>正态分布是现实数据的近似模型，而非绝对描述。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5413248"/>
            <a:ext cx="10820369" cy="932688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51560" y="5413248"/>
            <a:ext cx="10088849" cy="9326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微软雅黑"/>
              </a:rPr>
              <a:t>正态分布不是现实本身，而是理解现实数据的一种模型。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409</Words>
  <Application>Microsoft Office PowerPoint</Application>
  <PresentationFormat>宽屏</PresentationFormat>
  <Paragraphs>140</Paragraphs>
  <Slides>10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14" baseType="lpstr">
      <vt:lpstr>微软雅黑</vt:lpstr>
      <vt:lpstr>Arial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浩 赵</cp:lastModifiedBy>
  <cp:revision>2</cp:revision>
  <dcterms:created xsi:type="dcterms:W3CDTF">2013-01-27T09:14:16Z</dcterms:created>
  <dcterms:modified xsi:type="dcterms:W3CDTF">2026-09-26T04:46:28Z</dcterms:modified>
  <cp:category/>
</cp:coreProperties>
</file>